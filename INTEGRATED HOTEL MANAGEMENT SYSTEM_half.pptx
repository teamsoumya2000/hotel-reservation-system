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2CACF8-F183-4EC6-AAE8-0EF0946766D2}" type="datetimeFigureOut">
              <a:rPr lang="en-IN" smtClean="0"/>
              <a:t>12-01-2026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6E5C4-02B3-4016-8978-2E4CB5002371}" type="slidenum">
              <a:rPr lang="en-IN" smtClean="0"/>
              <a:t>‹#›</a:t>
            </a:fld>
            <a:endParaRPr lang="en-IN"/>
          </a:p>
        </p:txBody>
      </p:sp>
    </p:spTree>
    <p:extLst>
      <p:ext uri="{BB962C8B-B14F-4D97-AF65-F5344CB8AC3E}">
        <p14:creationId xmlns:p14="http://schemas.microsoft.com/office/powerpoint/2010/main" val="1346472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3A6E5C4-02B3-4016-8978-2E4CB5002371}" type="slidenum">
              <a:rPr lang="en-IN" smtClean="0"/>
              <a:t>10</a:t>
            </a:fld>
            <a:endParaRPr lang="en-IN"/>
          </a:p>
        </p:txBody>
      </p:sp>
    </p:spTree>
    <p:extLst>
      <p:ext uri="{BB962C8B-B14F-4D97-AF65-F5344CB8AC3E}">
        <p14:creationId xmlns:p14="http://schemas.microsoft.com/office/powerpoint/2010/main" val="779981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831903-F31C-4120-AF20-A52342558DBA}"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A7D0B1-B7AF-435C-821D-6DEBF8DE1F7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494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31903-F31C-4120-AF20-A52342558DBA}"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A7D0B1-B7AF-435C-821D-6DEBF8DE1F7B}" type="slidenum">
              <a:rPr lang="en-IN" smtClean="0"/>
              <a:t>‹#›</a:t>
            </a:fld>
            <a:endParaRPr lang="en-IN"/>
          </a:p>
        </p:txBody>
      </p:sp>
    </p:spTree>
    <p:extLst>
      <p:ext uri="{BB962C8B-B14F-4D97-AF65-F5344CB8AC3E}">
        <p14:creationId xmlns:p14="http://schemas.microsoft.com/office/powerpoint/2010/main" val="1559007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31903-F31C-4120-AF20-A52342558DBA}"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A7D0B1-B7AF-435C-821D-6DEBF8DE1F7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714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831903-F31C-4120-AF20-A52342558DBA}" type="datetimeFigureOut">
              <a:rPr lang="en-IN" smtClean="0"/>
              <a:t>12-01-2026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A7D0B1-B7AF-435C-821D-6DEBF8DE1F7B}" type="slidenum">
              <a:rPr lang="en-IN" smtClean="0"/>
              <a:t>‹#›</a:t>
            </a:fld>
            <a:endParaRPr lang="en-IN"/>
          </a:p>
        </p:txBody>
      </p:sp>
    </p:spTree>
    <p:extLst>
      <p:ext uri="{BB962C8B-B14F-4D97-AF65-F5344CB8AC3E}">
        <p14:creationId xmlns:p14="http://schemas.microsoft.com/office/powerpoint/2010/main" val="1442972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831903-F31C-4120-AF20-A52342558DBA}" type="datetimeFigureOut">
              <a:rPr lang="en-IN" smtClean="0"/>
              <a:t>12-01-2026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9A7D0B1-B7AF-435C-821D-6DEBF8DE1F7B}" type="slidenum">
              <a:rPr lang="en-IN" smtClean="0"/>
              <a:t>‹#›</a:t>
            </a:fld>
            <a:endParaRPr lang="en-IN"/>
          </a:p>
        </p:txBody>
      </p:sp>
    </p:spTree>
    <p:extLst>
      <p:ext uri="{BB962C8B-B14F-4D97-AF65-F5344CB8AC3E}">
        <p14:creationId xmlns:p14="http://schemas.microsoft.com/office/powerpoint/2010/main" val="186653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831903-F31C-4120-AF20-A52342558DBA}" type="datetimeFigureOut">
              <a:rPr lang="en-IN" smtClean="0"/>
              <a:t>12-01-2026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9A7D0B1-B7AF-435C-821D-6DEBF8DE1F7B}" type="slidenum">
              <a:rPr lang="en-IN" smtClean="0"/>
              <a:t>‹#›</a:t>
            </a:fld>
            <a:endParaRPr lang="en-IN"/>
          </a:p>
        </p:txBody>
      </p:sp>
    </p:spTree>
    <p:extLst>
      <p:ext uri="{BB962C8B-B14F-4D97-AF65-F5344CB8AC3E}">
        <p14:creationId xmlns:p14="http://schemas.microsoft.com/office/powerpoint/2010/main" val="1226630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D831903-F31C-4120-AF20-A52342558DBA}" type="datetimeFigureOut">
              <a:rPr lang="en-IN" smtClean="0"/>
              <a:t>12-01-2026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89A7D0B1-B7AF-435C-821D-6DEBF8DE1F7B}" type="slidenum">
              <a:rPr lang="en-IN" smtClean="0"/>
              <a:t>‹#›</a:t>
            </a:fld>
            <a:endParaRPr lang="en-IN"/>
          </a:p>
        </p:txBody>
      </p:sp>
    </p:spTree>
    <p:extLst>
      <p:ext uri="{BB962C8B-B14F-4D97-AF65-F5344CB8AC3E}">
        <p14:creationId xmlns:p14="http://schemas.microsoft.com/office/powerpoint/2010/main" val="3736604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D831903-F31C-4120-AF20-A52342558DBA}" type="datetimeFigureOut">
              <a:rPr lang="en-IN" smtClean="0"/>
              <a:t>12-01-2026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9A7D0B1-B7AF-435C-821D-6DEBF8DE1F7B}" type="slidenum">
              <a:rPr lang="en-IN" smtClean="0"/>
              <a:t>‹#›</a:t>
            </a:fld>
            <a:endParaRPr lang="en-IN"/>
          </a:p>
        </p:txBody>
      </p:sp>
    </p:spTree>
    <p:extLst>
      <p:ext uri="{BB962C8B-B14F-4D97-AF65-F5344CB8AC3E}">
        <p14:creationId xmlns:p14="http://schemas.microsoft.com/office/powerpoint/2010/main" val="227860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831903-F31C-4120-AF20-A52342558DBA}" type="datetimeFigureOut">
              <a:rPr lang="en-IN" smtClean="0"/>
              <a:t>12-01-2026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9A7D0B1-B7AF-435C-821D-6DEBF8DE1F7B}" type="slidenum">
              <a:rPr lang="en-IN" smtClean="0"/>
              <a:t>‹#›</a:t>
            </a:fld>
            <a:endParaRPr lang="en-IN"/>
          </a:p>
        </p:txBody>
      </p:sp>
    </p:spTree>
    <p:extLst>
      <p:ext uri="{BB962C8B-B14F-4D97-AF65-F5344CB8AC3E}">
        <p14:creationId xmlns:p14="http://schemas.microsoft.com/office/powerpoint/2010/main" val="3837209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31903-F31C-4120-AF20-A52342558DBA}"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A7D0B1-B7AF-435C-821D-6DEBF8DE1F7B}" type="slidenum">
              <a:rPr lang="en-IN" smtClean="0"/>
              <a:t>‹#›</a:t>
            </a:fld>
            <a:endParaRPr lang="en-IN"/>
          </a:p>
        </p:txBody>
      </p:sp>
    </p:spTree>
    <p:extLst>
      <p:ext uri="{BB962C8B-B14F-4D97-AF65-F5344CB8AC3E}">
        <p14:creationId xmlns:p14="http://schemas.microsoft.com/office/powerpoint/2010/main" val="2466522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31903-F31C-4120-AF20-A52342558DBA}"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A7D0B1-B7AF-435C-821D-6DEBF8DE1F7B}" type="slidenum">
              <a:rPr lang="en-IN" smtClean="0"/>
              <a:t>‹#›</a:t>
            </a:fld>
            <a:endParaRPr lang="en-IN"/>
          </a:p>
        </p:txBody>
      </p:sp>
    </p:spTree>
    <p:extLst>
      <p:ext uri="{BB962C8B-B14F-4D97-AF65-F5344CB8AC3E}">
        <p14:creationId xmlns:p14="http://schemas.microsoft.com/office/powerpoint/2010/main" val="1039255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831903-F31C-4120-AF20-A52342558DBA}" type="datetimeFigureOut">
              <a:rPr lang="en-IN" smtClean="0"/>
              <a:t>12-01-2026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9A7D0B1-B7AF-435C-821D-6DEBF8DE1F7B}"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5736411"/>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 id="2147484004" r:id="rId5"/>
    <p:sldLayoutId id="2147484005" r:id="rId6"/>
    <p:sldLayoutId id="2147484006" r:id="rId7"/>
    <p:sldLayoutId id="2147484007" r:id="rId8"/>
    <p:sldLayoutId id="2147484008" r:id="rId9"/>
    <p:sldLayoutId id="2147484009" r:id="rId10"/>
    <p:sldLayoutId id="214748401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3ACE3-964B-03B1-4EB0-60202E099EEF}"/>
              </a:ext>
            </a:extLst>
          </p:cNvPr>
          <p:cNvSpPr>
            <a:spLocks noGrp="1"/>
          </p:cNvSpPr>
          <p:nvPr>
            <p:ph type="ctrTitle"/>
          </p:nvPr>
        </p:nvSpPr>
        <p:spPr>
          <a:xfrm>
            <a:off x="1100051" y="1975104"/>
            <a:ext cx="10058400" cy="2194560"/>
          </a:xfrm>
        </p:spPr>
        <p:txBody>
          <a:bodyPr>
            <a:normAutofit/>
          </a:bodyPr>
          <a:lstStyle/>
          <a:p>
            <a:pPr algn="ctr">
              <a:lnSpc>
                <a:spcPct val="110000"/>
              </a:lnSpc>
            </a:pPr>
            <a:r>
              <a:rPr lang="en-IN" sz="5400" b="1" dirty="0">
                <a:solidFill>
                  <a:schemeClr val="tx1"/>
                </a:solidFill>
                <a:latin typeface="Century" panose="02040604050505020304" pitchFamily="18" charset="0"/>
              </a:rPr>
              <a:t>INTEGRATED HOTEL MANAGEMENT SYSTEM</a:t>
            </a:r>
          </a:p>
        </p:txBody>
      </p:sp>
      <p:sp>
        <p:nvSpPr>
          <p:cNvPr id="3" name="Subtitle 2">
            <a:extLst>
              <a:ext uri="{FF2B5EF4-FFF2-40B4-BE49-F238E27FC236}">
                <a16:creationId xmlns:a16="http://schemas.microsoft.com/office/drawing/2014/main" id="{0DEA66FD-D17A-5497-9544-F29F4AF4D35A}"/>
              </a:ext>
            </a:extLst>
          </p:cNvPr>
          <p:cNvSpPr>
            <a:spLocks noGrp="1"/>
          </p:cNvSpPr>
          <p:nvPr>
            <p:ph type="subTitle" idx="1"/>
          </p:nvPr>
        </p:nvSpPr>
        <p:spPr/>
        <p:txBody>
          <a:bodyPr>
            <a:normAutofit/>
          </a:bodyPr>
          <a:lstStyle/>
          <a:p>
            <a:r>
              <a:rPr lang="en-IN" dirty="0"/>
              <a:t>A Database-Driven Solution for Managing Hotel Operations</a:t>
            </a:r>
          </a:p>
        </p:txBody>
      </p:sp>
      <p:cxnSp>
        <p:nvCxnSpPr>
          <p:cNvPr id="4" name="Straight Connector 3">
            <a:extLst>
              <a:ext uri="{FF2B5EF4-FFF2-40B4-BE49-F238E27FC236}">
                <a16:creationId xmlns:a16="http://schemas.microsoft.com/office/drawing/2014/main" id="{36DBEEB9-2A53-C1FD-12E0-BBC6D06330C3}"/>
              </a:ext>
            </a:extLst>
          </p:cNvPr>
          <p:cNvCxnSpPr>
            <a:cxnSpLocks/>
          </p:cNvCxnSpPr>
          <p:nvPr/>
        </p:nvCxnSpPr>
        <p:spPr>
          <a:xfrm>
            <a:off x="1197864" y="4352544"/>
            <a:ext cx="9960587"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94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1ABC4-F780-9FAB-8307-436B4B72FFB5}"/>
              </a:ext>
            </a:extLst>
          </p:cNvPr>
          <p:cNvSpPr>
            <a:spLocks noGrp="1"/>
          </p:cNvSpPr>
          <p:nvPr>
            <p:ph type="title"/>
          </p:nvPr>
        </p:nvSpPr>
        <p:spPr/>
        <p:txBody>
          <a:bodyPr/>
          <a:lstStyle/>
          <a:p>
            <a:r>
              <a:rPr lang="en-US" b="1" dirty="0">
                <a:solidFill>
                  <a:schemeClr val="tx1"/>
                </a:solidFill>
                <a:latin typeface="Century" panose="02040604050505020304" pitchFamily="18" charset="0"/>
              </a:rPr>
              <a:t>INTRODUCTION</a:t>
            </a:r>
            <a:endParaRPr lang="en-IN" b="1" dirty="0">
              <a:solidFill>
                <a:schemeClr val="tx1"/>
              </a:solidFill>
              <a:latin typeface="Century" panose="02040604050505020304" pitchFamily="18" charset="0"/>
            </a:endParaRPr>
          </a:p>
        </p:txBody>
      </p:sp>
      <p:sp>
        <p:nvSpPr>
          <p:cNvPr id="3" name="Content Placeholder 2">
            <a:extLst>
              <a:ext uri="{FF2B5EF4-FFF2-40B4-BE49-F238E27FC236}">
                <a16:creationId xmlns:a16="http://schemas.microsoft.com/office/drawing/2014/main" id="{72E4C510-3B17-423E-E905-975ED6A90823}"/>
              </a:ext>
            </a:extLst>
          </p:cNvPr>
          <p:cNvSpPr>
            <a:spLocks noGrp="1"/>
          </p:cNvSpPr>
          <p:nvPr>
            <p:ph idx="1"/>
          </p:nvPr>
        </p:nvSpPr>
        <p:spPr/>
        <p:txBody>
          <a:bodyPr/>
          <a:lstStyle/>
          <a:p>
            <a:pPr>
              <a:lnSpc>
                <a:spcPct val="150000"/>
              </a:lnSpc>
            </a:pPr>
            <a:r>
              <a:rPr lang="en-US" dirty="0">
                <a:solidFill>
                  <a:schemeClr val="tx1">
                    <a:lumMod val="50000"/>
                    <a:lumOff val="50000"/>
                  </a:schemeClr>
                </a:solidFill>
              </a:rPr>
              <a:t>The </a:t>
            </a:r>
            <a:r>
              <a:rPr lang="en-US" b="1" dirty="0"/>
              <a:t>Integrated Hotel Management System</a:t>
            </a:r>
            <a:r>
              <a:rPr lang="en-US" dirty="0">
                <a:solidFill>
                  <a:schemeClr val="tx1">
                    <a:lumMod val="50000"/>
                    <a:lumOff val="50000"/>
                  </a:schemeClr>
                </a:solidFill>
              </a:rPr>
              <a:t> is a database-based system designed to manage hotel operations such as guest details, room availability, reservations, payments, and staff information. The project uses SQL to store and organize data efficiently, ensuring accuracy, consistency, and easy retrieval of information. This system provides a structured approach to hotel data management and supports effective decision-making through reliable database operations.</a:t>
            </a:r>
            <a:endParaRPr lang="en-IN" dirty="0">
              <a:solidFill>
                <a:schemeClr val="tx1">
                  <a:lumMod val="50000"/>
                  <a:lumOff val="50000"/>
                </a:schemeClr>
              </a:solidFill>
            </a:endParaRPr>
          </a:p>
        </p:txBody>
      </p:sp>
      <p:cxnSp>
        <p:nvCxnSpPr>
          <p:cNvPr id="4" name="Straight Connector 3">
            <a:extLst>
              <a:ext uri="{FF2B5EF4-FFF2-40B4-BE49-F238E27FC236}">
                <a16:creationId xmlns:a16="http://schemas.microsoft.com/office/drawing/2014/main" id="{B444C95F-CAD6-79C7-C39E-95A4C9450298}"/>
              </a:ext>
            </a:extLst>
          </p:cNvPr>
          <p:cNvCxnSpPr>
            <a:cxnSpLocks/>
          </p:cNvCxnSpPr>
          <p:nvPr/>
        </p:nvCxnSpPr>
        <p:spPr>
          <a:xfrm>
            <a:off x="1197864" y="1746504"/>
            <a:ext cx="9960587"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943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90A8C-B18D-5A4B-357F-9C43822EA32E}"/>
              </a:ext>
            </a:extLst>
          </p:cNvPr>
          <p:cNvSpPr>
            <a:spLocks noGrp="1"/>
          </p:cNvSpPr>
          <p:nvPr>
            <p:ph type="title"/>
          </p:nvPr>
        </p:nvSpPr>
        <p:spPr>
          <a:xfrm>
            <a:off x="1097280" y="896112"/>
            <a:ext cx="10058400" cy="841248"/>
          </a:xfrm>
        </p:spPr>
        <p:txBody>
          <a:bodyPr/>
          <a:lstStyle/>
          <a:p>
            <a:r>
              <a:rPr lang="en-US" b="1" dirty="0">
                <a:solidFill>
                  <a:schemeClr val="tx1"/>
                </a:solidFill>
                <a:latin typeface="Century" panose="02040604050505020304" pitchFamily="18" charset="0"/>
              </a:rPr>
              <a:t>DATASET</a:t>
            </a:r>
            <a:endParaRPr lang="en-IN" b="1" dirty="0">
              <a:solidFill>
                <a:schemeClr val="tx1"/>
              </a:solidFill>
              <a:latin typeface="Century" panose="02040604050505020304" pitchFamily="18" charset="0"/>
            </a:endParaRPr>
          </a:p>
        </p:txBody>
      </p:sp>
      <p:sp>
        <p:nvSpPr>
          <p:cNvPr id="3" name="Content Placeholder 2">
            <a:extLst>
              <a:ext uri="{FF2B5EF4-FFF2-40B4-BE49-F238E27FC236}">
                <a16:creationId xmlns:a16="http://schemas.microsoft.com/office/drawing/2014/main" id="{CC23189C-A26D-9FB2-7071-5C0AFD15069E}"/>
              </a:ext>
            </a:extLst>
          </p:cNvPr>
          <p:cNvSpPr>
            <a:spLocks noGrp="1"/>
          </p:cNvSpPr>
          <p:nvPr>
            <p:ph idx="1"/>
          </p:nvPr>
        </p:nvSpPr>
        <p:spPr>
          <a:xfrm>
            <a:off x="1005840" y="1779961"/>
            <a:ext cx="1527048" cy="309980"/>
          </a:xfrm>
        </p:spPr>
        <p:txBody>
          <a:bodyPr>
            <a:normAutofit fontScale="92500" lnSpcReduction="20000"/>
          </a:bodyPr>
          <a:lstStyle/>
          <a:p>
            <a:pPr algn="ctr"/>
            <a:r>
              <a:rPr lang="en-US" b="1" dirty="0">
                <a:solidFill>
                  <a:schemeClr val="accent1"/>
                </a:solidFill>
              </a:rPr>
              <a:t>Guest Table</a:t>
            </a:r>
            <a:endParaRPr lang="en-IN" b="1" dirty="0">
              <a:solidFill>
                <a:schemeClr val="accent1"/>
              </a:solidFill>
            </a:endParaRPr>
          </a:p>
        </p:txBody>
      </p:sp>
      <p:pic>
        <p:nvPicPr>
          <p:cNvPr id="5" name="Picture 4">
            <a:extLst>
              <a:ext uri="{FF2B5EF4-FFF2-40B4-BE49-F238E27FC236}">
                <a16:creationId xmlns:a16="http://schemas.microsoft.com/office/drawing/2014/main" id="{DD120173-5CF4-249A-7A6B-4F44D02ED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6302" y="2100001"/>
            <a:ext cx="4468698" cy="1034626"/>
          </a:xfrm>
          <a:prstGeom prst="rect">
            <a:avLst/>
          </a:prstGeom>
        </p:spPr>
      </p:pic>
      <p:sp>
        <p:nvSpPr>
          <p:cNvPr id="6" name="Content Placeholder 2">
            <a:extLst>
              <a:ext uri="{FF2B5EF4-FFF2-40B4-BE49-F238E27FC236}">
                <a16:creationId xmlns:a16="http://schemas.microsoft.com/office/drawing/2014/main" id="{1C71980B-5DD9-133E-6972-DF4321525F5A}"/>
              </a:ext>
            </a:extLst>
          </p:cNvPr>
          <p:cNvSpPr txBox="1">
            <a:spLocks/>
          </p:cNvSpPr>
          <p:nvPr/>
        </p:nvSpPr>
        <p:spPr>
          <a:xfrm>
            <a:off x="1005840" y="3238664"/>
            <a:ext cx="1527048" cy="309980"/>
          </a:xfrm>
          <a:prstGeom prst="rect">
            <a:avLst/>
          </a:prstGeom>
        </p:spPr>
        <p:txBody>
          <a:bodyPr vert="horz" lIns="0" tIns="45720" rIns="0" bIns="4572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b="1" dirty="0">
                <a:solidFill>
                  <a:schemeClr val="accent1"/>
                </a:solidFill>
              </a:rPr>
              <a:t>Rooms Table</a:t>
            </a:r>
            <a:endParaRPr lang="en-IN" b="1" dirty="0">
              <a:solidFill>
                <a:schemeClr val="accent1"/>
              </a:solidFill>
            </a:endParaRPr>
          </a:p>
        </p:txBody>
      </p:sp>
      <p:pic>
        <p:nvPicPr>
          <p:cNvPr id="8" name="Picture 7">
            <a:extLst>
              <a:ext uri="{FF2B5EF4-FFF2-40B4-BE49-F238E27FC236}">
                <a16:creationId xmlns:a16="http://schemas.microsoft.com/office/drawing/2014/main" id="{13CDE8A5-E92C-84EB-F038-C26F323B98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302" y="3548644"/>
            <a:ext cx="4468698" cy="1110892"/>
          </a:xfrm>
          <a:prstGeom prst="rect">
            <a:avLst/>
          </a:prstGeom>
        </p:spPr>
      </p:pic>
      <p:sp>
        <p:nvSpPr>
          <p:cNvPr id="9" name="Content Placeholder 2">
            <a:extLst>
              <a:ext uri="{FF2B5EF4-FFF2-40B4-BE49-F238E27FC236}">
                <a16:creationId xmlns:a16="http://schemas.microsoft.com/office/drawing/2014/main" id="{91FB9F22-A7CB-9562-B4D4-50A652E42FF2}"/>
              </a:ext>
            </a:extLst>
          </p:cNvPr>
          <p:cNvSpPr txBox="1">
            <a:spLocks/>
          </p:cNvSpPr>
          <p:nvPr/>
        </p:nvSpPr>
        <p:spPr>
          <a:xfrm>
            <a:off x="6272784" y="1774616"/>
            <a:ext cx="1984248" cy="3457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b="1" dirty="0">
                <a:solidFill>
                  <a:schemeClr val="accent1"/>
                </a:solidFill>
              </a:rPr>
              <a:t>Reservation Table</a:t>
            </a:r>
            <a:endParaRPr lang="en-IN" b="1" dirty="0">
              <a:solidFill>
                <a:schemeClr val="accent1"/>
              </a:solidFill>
            </a:endParaRPr>
          </a:p>
        </p:txBody>
      </p:sp>
      <p:pic>
        <p:nvPicPr>
          <p:cNvPr id="11" name="Picture 10">
            <a:extLst>
              <a:ext uri="{FF2B5EF4-FFF2-40B4-BE49-F238E27FC236}">
                <a16:creationId xmlns:a16="http://schemas.microsoft.com/office/drawing/2014/main" id="{FC2EE867-4F24-2437-BFB0-B9EBAECC25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6087" y="2100001"/>
            <a:ext cx="4368114" cy="1086002"/>
          </a:xfrm>
          <a:prstGeom prst="rect">
            <a:avLst/>
          </a:prstGeom>
        </p:spPr>
      </p:pic>
      <p:sp>
        <p:nvSpPr>
          <p:cNvPr id="12" name="Content Placeholder 2">
            <a:extLst>
              <a:ext uri="{FF2B5EF4-FFF2-40B4-BE49-F238E27FC236}">
                <a16:creationId xmlns:a16="http://schemas.microsoft.com/office/drawing/2014/main" id="{1BE5B687-B12C-936B-E1B2-59DE04C5355D}"/>
              </a:ext>
            </a:extLst>
          </p:cNvPr>
          <p:cNvSpPr txBox="1">
            <a:spLocks/>
          </p:cNvSpPr>
          <p:nvPr/>
        </p:nvSpPr>
        <p:spPr>
          <a:xfrm>
            <a:off x="6272784" y="3231277"/>
            <a:ext cx="1764792" cy="31736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b="1" dirty="0">
                <a:solidFill>
                  <a:schemeClr val="accent1"/>
                </a:solidFill>
              </a:rPr>
              <a:t>Payments Table</a:t>
            </a:r>
            <a:endParaRPr lang="en-IN" b="1" dirty="0">
              <a:solidFill>
                <a:schemeClr val="accent1"/>
              </a:solidFill>
            </a:endParaRPr>
          </a:p>
        </p:txBody>
      </p:sp>
      <p:pic>
        <p:nvPicPr>
          <p:cNvPr id="14" name="Picture 13">
            <a:extLst>
              <a:ext uri="{FF2B5EF4-FFF2-40B4-BE49-F238E27FC236}">
                <a16:creationId xmlns:a16="http://schemas.microsoft.com/office/drawing/2014/main" id="{21C81480-3EAE-E55E-1E2A-0ACFA23424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6087" y="3548644"/>
            <a:ext cx="4368114" cy="819264"/>
          </a:xfrm>
          <a:prstGeom prst="rect">
            <a:avLst/>
          </a:prstGeom>
        </p:spPr>
      </p:pic>
      <p:sp>
        <p:nvSpPr>
          <p:cNvPr id="15" name="Content Placeholder 2">
            <a:extLst>
              <a:ext uri="{FF2B5EF4-FFF2-40B4-BE49-F238E27FC236}">
                <a16:creationId xmlns:a16="http://schemas.microsoft.com/office/drawing/2014/main" id="{2B7E1692-0D63-A634-F0B6-84939007FB92}"/>
              </a:ext>
            </a:extLst>
          </p:cNvPr>
          <p:cNvSpPr txBox="1">
            <a:spLocks/>
          </p:cNvSpPr>
          <p:nvPr/>
        </p:nvSpPr>
        <p:spPr>
          <a:xfrm>
            <a:off x="4120896" y="4723983"/>
            <a:ext cx="1255776" cy="30029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n-US" b="1" dirty="0">
                <a:solidFill>
                  <a:schemeClr val="accent1"/>
                </a:solidFill>
              </a:rPr>
              <a:t>Staff Table</a:t>
            </a:r>
            <a:endParaRPr lang="en-IN" b="1" dirty="0">
              <a:solidFill>
                <a:schemeClr val="accent1"/>
              </a:solidFill>
            </a:endParaRPr>
          </a:p>
        </p:txBody>
      </p:sp>
      <p:pic>
        <p:nvPicPr>
          <p:cNvPr id="17" name="Picture 16">
            <a:extLst>
              <a:ext uri="{FF2B5EF4-FFF2-40B4-BE49-F238E27FC236}">
                <a16:creationId xmlns:a16="http://schemas.microsoft.com/office/drawing/2014/main" id="{88D298C0-EAB1-83CA-6A66-B633943733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90734" y="5088728"/>
            <a:ext cx="3810532" cy="1114581"/>
          </a:xfrm>
          <a:prstGeom prst="rect">
            <a:avLst/>
          </a:prstGeom>
        </p:spPr>
      </p:pic>
    </p:spTree>
    <p:extLst>
      <p:ext uri="{BB962C8B-B14F-4D97-AF65-F5344CB8AC3E}">
        <p14:creationId xmlns:p14="http://schemas.microsoft.com/office/powerpoint/2010/main" val="2405158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499EF-D60A-A0B0-F8F8-44D942A61EA9}"/>
              </a:ext>
            </a:extLst>
          </p:cNvPr>
          <p:cNvSpPr>
            <a:spLocks noGrp="1"/>
          </p:cNvSpPr>
          <p:nvPr>
            <p:ph type="title"/>
          </p:nvPr>
        </p:nvSpPr>
        <p:spPr/>
        <p:txBody>
          <a:bodyPr/>
          <a:lstStyle/>
          <a:p>
            <a:r>
              <a:rPr lang="en-US" b="1" dirty="0">
                <a:solidFill>
                  <a:schemeClr val="tx1"/>
                </a:solidFill>
                <a:latin typeface="Century" panose="02040604050505020304" pitchFamily="18" charset="0"/>
              </a:rPr>
              <a:t>PROBLEM STATEMENT</a:t>
            </a:r>
            <a:endParaRPr lang="en-IN" b="1" dirty="0">
              <a:solidFill>
                <a:schemeClr val="tx1"/>
              </a:solidFill>
              <a:latin typeface="Century" panose="02040604050505020304" pitchFamily="18" charset="0"/>
            </a:endParaRPr>
          </a:p>
        </p:txBody>
      </p:sp>
      <p:sp>
        <p:nvSpPr>
          <p:cNvPr id="3" name="Content Placeholder 2">
            <a:extLst>
              <a:ext uri="{FF2B5EF4-FFF2-40B4-BE49-F238E27FC236}">
                <a16:creationId xmlns:a16="http://schemas.microsoft.com/office/drawing/2014/main" id="{450CAD96-55F9-E984-6737-31C9086AC67F}"/>
              </a:ext>
            </a:extLst>
          </p:cNvPr>
          <p:cNvSpPr>
            <a:spLocks noGrp="1"/>
          </p:cNvSpPr>
          <p:nvPr>
            <p:ph idx="1"/>
          </p:nvPr>
        </p:nvSpPr>
        <p:spPr>
          <a:xfrm>
            <a:off x="1097280" y="1845734"/>
            <a:ext cx="4361688" cy="4023360"/>
          </a:xfrm>
        </p:spPr>
        <p:txBody>
          <a:bodyPr>
            <a:normAutofit fontScale="92500" lnSpcReduction="10000"/>
          </a:bodyPr>
          <a:lstStyle/>
          <a:p>
            <a:pPr marL="457200" indent="-457200">
              <a:lnSpc>
                <a:spcPct val="80000"/>
              </a:lnSpc>
              <a:buFont typeface="+mj-lt"/>
              <a:buAutoNum type="arabicPeriod"/>
            </a:pPr>
            <a:r>
              <a:rPr lang="en-IN" dirty="0"/>
              <a:t> </a:t>
            </a:r>
            <a:r>
              <a:rPr lang="en-IN" dirty="0">
                <a:solidFill>
                  <a:schemeClr val="tx1">
                    <a:lumMod val="50000"/>
                    <a:lumOff val="50000"/>
                  </a:schemeClr>
                </a:solidFill>
              </a:rPr>
              <a:t>List all guests</a:t>
            </a:r>
          </a:p>
          <a:p>
            <a:pPr marL="457200" indent="-457200">
              <a:lnSpc>
                <a:spcPct val="80000"/>
              </a:lnSpc>
              <a:buFont typeface="+mj-lt"/>
              <a:buAutoNum type="arabicPeriod"/>
            </a:pPr>
            <a:r>
              <a:rPr lang="en-IN" dirty="0">
                <a:solidFill>
                  <a:schemeClr val="tx1">
                    <a:lumMod val="50000"/>
                    <a:lumOff val="50000"/>
                  </a:schemeClr>
                </a:solidFill>
              </a:rPr>
              <a:t> Show available rooms</a:t>
            </a:r>
          </a:p>
          <a:p>
            <a:pPr marL="457200" indent="-457200">
              <a:lnSpc>
                <a:spcPct val="80000"/>
              </a:lnSpc>
              <a:buFont typeface="+mj-lt"/>
              <a:buAutoNum type="arabicPeriod"/>
            </a:pPr>
            <a:r>
              <a:rPr lang="en-IN" dirty="0">
                <a:solidFill>
                  <a:schemeClr val="tx1">
                    <a:lumMod val="50000"/>
                    <a:lumOff val="50000"/>
                  </a:schemeClr>
                </a:solidFill>
              </a:rPr>
              <a:t> Count total guests</a:t>
            </a:r>
          </a:p>
          <a:p>
            <a:pPr marL="457200" indent="-457200">
              <a:lnSpc>
                <a:spcPct val="80000"/>
              </a:lnSpc>
              <a:buFont typeface="+mj-lt"/>
              <a:buAutoNum type="arabicPeriod"/>
            </a:pPr>
            <a:r>
              <a:rPr lang="en-IN" dirty="0">
                <a:solidFill>
                  <a:schemeClr val="tx1">
                    <a:lumMod val="50000"/>
                    <a:lumOff val="50000"/>
                  </a:schemeClr>
                </a:solidFill>
              </a:rPr>
              <a:t> Show occupied rooms</a:t>
            </a:r>
          </a:p>
          <a:p>
            <a:pPr marL="457200" indent="-457200">
              <a:lnSpc>
                <a:spcPct val="80000"/>
              </a:lnSpc>
              <a:buFont typeface="+mj-lt"/>
              <a:buAutoNum type="arabicPeriod"/>
            </a:pPr>
            <a:r>
              <a:rPr lang="en-IN" dirty="0">
                <a:solidFill>
                  <a:schemeClr val="tx1">
                    <a:lumMod val="50000"/>
                    <a:lumOff val="50000"/>
                  </a:schemeClr>
                </a:solidFill>
              </a:rPr>
              <a:t> </a:t>
            </a:r>
            <a:r>
              <a:rPr lang="en-US" dirty="0">
                <a:solidFill>
                  <a:schemeClr val="tx1">
                    <a:lumMod val="50000"/>
                    <a:lumOff val="50000"/>
                  </a:schemeClr>
                </a:solidFill>
              </a:rPr>
              <a:t>Show all reservations with guest names</a:t>
            </a:r>
          </a:p>
          <a:p>
            <a:pPr marL="457200" indent="-457200">
              <a:lnSpc>
                <a:spcPct val="80000"/>
              </a:lnSpc>
              <a:buFont typeface="+mj-lt"/>
              <a:buAutoNum type="arabicPeriod"/>
            </a:pPr>
            <a:r>
              <a:rPr lang="en-US" dirty="0">
                <a:solidFill>
                  <a:schemeClr val="tx1">
                    <a:lumMod val="50000"/>
                    <a:lumOff val="50000"/>
                  </a:schemeClr>
                </a:solidFill>
              </a:rPr>
              <a:t> Total revenue generated</a:t>
            </a:r>
          </a:p>
          <a:p>
            <a:pPr marL="457200" indent="-457200">
              <a:lnSpc>
                <a:spcPct val="80000"/>
              </a:lnSpc>
              <a:buFont typeface="+mj-lt"/>
              <a:buAutoNum type="arabicPeriod"/>
            </a:pPr>
            <a:r>
              <a:rPr lang="en-US" dirty="0">
                <a:solidFill>
                  <a:schemeClr val="tx1">
                    <a:lumMod val="50000"/>
                    <a:lumOff val="50000"/>
                  </a:schemeClr>
                </a:solidFill>
              </a:rPr>
              <a:t> Average room price</a:t>
            </a:r>
          </a:p>
          <a:p>
            <a:pPr marL="457200" indent="-457200">
              <a:lnSpc>
                <a:spcPct val="80000"/>
              </a:lnSpc>
              <a:buFont typeface="+mj-lt"/>
              <a:buAutoNum type="arabicPeriod"/>
            </a:pPr>
            <a:r>
              <a:rPr lang="en-US" dirty="0">
                <a:solidFill>
                  <a:schemeClr val="tx1">
                    <a:lumMod val="50000"/>
                    <a:lumOff val="50000"/>
                  </a:schemeClr>
                </a:solidFill>
              </a:rPr>
              <a:t> Payment details with guest name</a:t>
            </a:r>
          </a:p>
          <a:p>
            <a:pPr marL="457200" indent="-457200">
              <a:lnSpc>
                <a:spcPct val="80000"/>
              </a:lnSpc>
              <a:buFont typeface="+mj-lt"/>
              <a:buAutoNum type="arabicPeriod"/>
            </a:pPr>
            <a:r>
              <a:rPr lang="en-US" dirty="0">
                <a:solidFill>
                  <a:schemeClr val="tx1">
                    <a:lumMod val="50000"/>
                    <a:lumOff val="50000"/>
                  </a:schemeClr>
                </a:solidFill>
              </a:rPr>
              <a:t> Highest priced room</a:t>
            </a:r>
          </a:p>
          <a:p>
            <a:pPr marL="457200" indent="-457200">
              <a:lnSpc>
                <a:spcPct val="80000"/>
              </a:lnSpc>
              <a:buFont typeface="+mj-lt"/>
              <a:buAutoNum type="arabicPeriod"/>
            </a:pPr>
            <a:r>
              <a:rPr lang="en-US" dirty="0">
                <a:solidFill>
                  <a:schemeClr val="tx1">
                    <a:lumMod val="50000"/>
                    <a:lumOff val="50000"/>
                  </a:schemeClr>
                </a:solidFill>
              </a:rPr>
              <a:t> Reservations count per room type</a:t>
            </a:r>
          </a:p>
        </p:txBody>
      </p:sp>
      <p:sp>
        <p:nvSpPr>
          <p:cNvPr id="4" name="Content Placeholder 2">
            <a:extLst>
              <a:ext uri="{FF2B5EF4-FFF2-40B4-BE49-F238E27FC236}">
                <a16:creationId xmlns:a16="http://schemas.microsoft.com/office/drawing/2014/main" id="{CCA91030-5E0C-6335-201B-4207C51C493E}"/>
              </a:ext>
            </a:extLst>
          </p:cNvPr>
          <p:cNvSpPr txBox="1">
            <a:spLocks/>
          </p:cNvSpPr>
          <p:nvPr/>
        </p:nvSpPr>
        <p:spPr>
          <a:xfrm>
            <a:off x="6793992" y="1845734"/>
            <a:ext cx="4361688" cy="4023360"/>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lnSpc>
                <a:spcPct val="80000"/>
              </a:lnSpc>
              <a:buFont typeface="+mj-lt"/>
              <a:buAutoNum type="arabicPeriod" startAt="11"/>
            </a:pPr>
            <a:r>
              <a:rPr lang="en-IN" dirty="0"/>
              <a:t> </a:t>
            </a:r>
            <a:r>
              <a:rPr lang="en-IN" dirty="0">
                <a:solidFill>
                  <a:schemeClr val="tx1">
                    <a:lumMod val="50000"/>
                    <a:lumOff val="50000"/>
                  </a:schemeClr>
                </a:solidFill>
              </a:rPr>
              <a:t>Guests who made payments</a:t>
            </a:r>
          </a:p>
          <a:p>
            <a:pPr marL="457200" indent="-457200">
              <a:lnSpc>
                <a:spcPct val="80000"/>
              </a:lnSpc>
              <a:buFont typeface="+mj-lt"/>
              <a:buAutoNum type="arabicPeriod" startAt="11"/>
            </a:pPr>
            <a:r>
              <a:rPr lang="en-IN" dirty="0">
                <a:solidFill>
                  <a:schemeClr val="tx1">
                    <a:lumMod val="50000"/>
                    <a:lumOff val="50000"/>
                  </a:schemeClr>
                </a:solidFill>
              </a:rPr>
              <a:t> Occupancy rate of hotel</a:t>
            </a:r>
          </a:p>
          <a:p>
            <a:pPr marL="457200" indent="-457200">
              <a:lnSpc>
                <a:spcPct val="80000"/>
              </a:lnSpc>
              <a:buFont typeface="+mj-lt"/>
              <a:buAutoNum type="arabicPeriod" startAt="11"/>
            </a:pPr>
            <a:r>
              <a:rPr lang="en-IN" dirty="0">
                <a:solidFill>
                  <a:schemeClr val="tx1">
                    <a:lumMod val="50000"/>
                    <a:lumOff val="50000"/>
                  </a:schemeClr>
                </a:solidFill>
              </a:rPr>
              <a:t> Revenue by room type</a:t>
            </a:r>
          </a:p>
          <a:p>
            <a:pPr marL="457200" indent="-457200">
              <a:lnSpc>
                <a:spcPct val="80000"/>
              </a:lnSpc>
              <a:buFont typeface="+mj-lt"/>
              <a:buAutoNum type="arabicPeriod" startAt="11"/>
            </a:pPr>
            <a:r>
              <a:rPr lang="en-IN" dirty="0">
                <a:solidFill>
                  <a:schemeClr val="tx1">
                    <a:lumMod val="50000"/>
                    <a:lumOff val="50000"/>
                  </a:schemeClr>
                </a:solidFill>
              </a:rPr>
              <a:t> Highest paying guest</a:t>
            </a:r>
          </a:p>
          <a:p>
            <a:pPr marL="457200" indent="-457200">
              <a:lnSpc>
                <a:spcPct val="80000"/>
              </a:lnSpc>
              <a:buFont typeface="+mj-lt"/>
              <a:buAutoNum type="arabicPeriod" startAt="11"/>
            </a:pPr>
            <a:r>
              <a:rPr lang="en-US" dirty="0">
                <a:solidFill>
                  <a:schemeClr val="tx1">
                    <a:lumMod val="50000"/>
                    <a:lumOff val="50000"/>
                  </a:schemeClr>
                </a:solidFill>
              </a:rPr>
              <a:t> Guests staying more than 2 days</a:t>
            </a:r>
          </a:p>
          <a:p>
            <a:pPr marL="457200" indent="-457200">
              <a:lnSpc>
                <a:spcPct val="80000"/>
              </a:lnSpc>
              <a:buFont typeface="+mj-lt"/>
              <a:buAutoNum type="arabicPeriod" startAt="11"/>
            </a:pPr>
            <a:r>
              <a:rPr lang="en-US" dirty="0">
                <a:solidFill>
                  <a:schemeClr val="tx1">
                    <a:lumMod val="50000"/>
                    <a:lumOff val="50000"/>
                  </a:schemeClr>
                </a:solidFill>
              </a:rPr>
              <a:t> Rooms never booked</a:t>
            </a:r>
          </a:p>
          <a:p>
            <a:pPr marL="457200" indent="-457200">
              <a:lnSpc>
                <a:spcPct val="80000"/>
              </a:lnSpc>
              <a:buFont typeface="+mj-lt"/>
              <a:buAutoNum type="arabicPeriod" startAt="11"/>
            </a:pPr>
            <a:r>
              <a:rPr lang="en-US" dirty="0">
                <a:solidFill>
                  <a:schemeClr val="tx1">
                    <a:lumMod val="50000"/>
                    <a:lumOff val="50000"/>
                  </a:schemeClr>
                </a:solidFill>
              </a:rPr>
              <a:t> Total staff salary</a:t>
            </a:r>
          </a:p>
          <a:p>
            <a:pPr marL="457200" indent="-457200">
              <a:lnSpc>
                <a:spcPct val="80000"/>
              </a:lnSpc>
              <a:buFont typeface="+mj-lt"/>
              <a:buAutoNum type="arabicPeriod" startAt="11"/>
            </a:pPr>
            <a:r>
              <a:rPr lang="en-US" dirty="0">
                <a:solidFill>
                  <a:schemeClr val="tx1">
                    <a:lumMod val="50000"/>
                    <a:lumOff val="50000"/>
                  </a:schemeClr>
                </a:solidFill>
              </a:rPr>
              <a:t> Highest paid staff member</a:t>
            </a:r>
          </a:p>
          <a:p>
            <a:pPr marL="457200" indent="-457200">
              <a:lnSpc>
                <a:spcPct val="80000"/>
              </a:lnSpc>
              <a:buFont typeface="+mj-lt"/>
              <a:buAutoNum type="arabicPeriod" startAt="11"/>
            </a:pPr>
            <a:r>
              <a:rPr lang="en-US" dirty="0">
                <a:solidFill>
                  <a:schemeClr val="tx1">
                    <a:lumMod val="50000"/>
                    <a:lumOff val="50000"/>
                  </a:schemeClr>
                </a:solidFill>
              </a:rPr>
              <a:t> Number of stays per guest</a:t>
            </a:r>
          </a:p>
          <a:p>
            <a:pPr marL="457200" indent="-457200">
              <a:lnSpc>
                <a:spcPct val="80000"/>
              </a:lnSpc>
              <a:buFont typeface="+mj-lt"/>
              <a:buAutoNum type="arabicPeriod" startAt="11"/>
            </a:pPr>
            <a:r>
              <a:rPr lang="en-US" dirty="0">
                <a:solidFill>
                  <a:schemeClr val="tx1">
                    <a:lumMod val="50000"/>
                    <a:lumOff val="50000"/>
                  </a:schemeClr>
                </a:solidFill>
              </a:rPr>
              <a:t> Monthly revenue</a:t>
            </a:r>
          </a:p>
        </p:txBody>
      </p:sp>
    </p:spTree>
    <p:extLst>
      <p:ext uri="{BB962C8B-B14F-4D97-AF65-F5344CB8AC3E}">
        <p14:creationId xmlns:p14="http://schemas.microsoft.com/office/powerpoint/2010/main" val="3192417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D9FA6-289E-D0C6-0724-CE387C3CC54A}"/>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p>
        </p:txBody>
      </p:sp>
      <p:sp>
        <p:nvSpPr>
          <p:cNvPr id="3" name="Content Placeholder 2">
            <a:extLst>
              <a:ext uri="{FF2B5EF4-FFF2-40B4-BE49-F238E27FC236}">
                <a16:creationId xmlns:a16="http://schemas.microsoft.com/office/drawing/2014/main" id="{DF25FE41-377B-B8A4-E991-5B886BEC1E21}"/>
              </a:ext>
            </a:extLst>
          </p:cNvPr>
          <p:cNvSpPr>
            <a:spLocks noGrp="1"/>
          </p:cNvSpPr>
          <p:nvPr>
            <p:ph idx="1"/>
          </p:nvPr>
        </p:nvSpPr>
        <p:spPr>
          <a:xfrm>
            <a:off x="1235358" y="2012022"/>
            <a:ext cx="2349090" cy="385402"/>
          </a:xfrm>
        </p:spPr>
        <p:txBody>
          <a:bodyPr>
            <a:noAutofit/>
          </a:bodyPr>
          <a:lstStyle/>
          <a:p>
            <a:r>
              <a:rPr lang="en-IN" sz="2400" b="1" dirty="0">
                <a:solidFill>
                  <a:schemeClr val="accent2"/>
                </a:solidFill>
              </a:rPr>
              <a:t>1. List all guests</a:t>
            </a:r>
          </a:p>
          <a:p>
            <a:endParaRPr lang="en-IN" sz="2400" dirty="0">
              <a:solidFill>
                <a:schemeClr val="tx1">
                  <a:lumMod val="50000"/>
                  <a:lumOff val="50000"/>
                </a:schemeClr>
              </a:solidFill>
            </a:endParaRPr>
          </a:p>
        </p:txBody>
      </p:sp>
      <p:pic>
        <p:nvPicPr>
          <p:cNvPr id="8" name="Picture 7">
            <a:extLst>
              <a:ext uri="{FF2B5EF4-FFF2-40B4-BE49-F238E27FC236}">
                <a16:creationId xmlns:a16="http://schemas.microsoft.com/office/drawing/2014/main" id="{36927294-FCC3-C3FF-F5E6-552641C45E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187" y="1845734"/>
            <a:ext cx="4715533" cy="1257475"/>
          </a:xfrm>
          <a:prstGeom prst="rect">
            <a:avLst/>
          </a:prstGeom>
        </p:spPr>
      </p:pic>
      <p:pic>
        <p:nvPicPr>
          <p:cNvPr id="10" name="Picture 9">
            <a:extLst>
              <a:ext uri="{FF2B5EF4-FFF2-40B4-BE49-F238E27FC236}">
                <a16:creationId xmlns:a16="http://schemas.microsoft.com/office/drawing/2014/main" id="{8BF7A2F0-8A45-350D-4440-083AEAF40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5358" y="2563712"/>
            <a:ext cx="2949269" cy="296161"/>
          </a:xfrm>
          <a:prstGeom prst="rect">
            <a:avLst/>
          </a:prstGeom>
        </p:spPr>
      </p:pic>
      <p:sp>
        <p:nvSpPr>
          <p:cNvPr id="12" name="Arrow: Right 11">
            <a:extLst>
              <a:ext uri="{FF2B5EF4-FFF2-40B4-BE49-F238E27FC236}">
                <a16:creationId xmlns:a16="http://schemas.microsoft.com/office/drawing/2014/main" id="{D4107A92-F784-3FE3-00E0-DA6F127F5ACB}"/>
              </a:ext>
            </a:extLst>
          </p:cNvPr>
          <p:cNvSpPr/>
          <p:nvPr/>
        </p:nvSpPr>
        <p:spPr>
          <a:xfrm>
            <a:off x="4599432" y="2212848"/>
            <a:ext cx="1496568" cy="5577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Content Placeholder 2">
            <a:extLst>
              <a:ext uri="{FF2B5EF4-FFF2-40B4-BE49-F238E27FC236}">
                <a16:creationId xmlns:a16="http://schemas.microsoft.com/office/drawing/2014/main" id="{D4EAE524-276E-93D8-DF9B-1107C61D418F}"/>
              </a:ext>
            </a:extLst>
          </p:cNvPr>
          <p:cNvSpPr txBox="1">
            <a:spLocks/>
          </p:cNvSpPr>
          <p:nvPr/>
        </p:nvSpPr>
        <p:spPr>
          <a:xfrm>
            <a:off x="3284796" y="3325962"/>
            <a:ext cx="6188782" cy="55778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50000"/>
              </a:lnSpc>
              <a:buFont typeface="Arial" panose="020B0604020202020204" pitchFamily="34" charset="0"/>
              <a:buChar char="•"/>
            </a:pPr>
            <a:r>
              <a:rPr lang="en-US" dirty="0">
                <a:solidFill>
                  <a:schemeClr val="tx1">
                    <a:lumMod val="50000"/>
                    <a:lumOff val="50000"/>
                  </a:schemeClr>
                </a:solidFill>
              </a:rPr>
              <a:t> Displays the complete list of all registered guests.</a:t>
            </a:r>
          </a:p>
          <a:p>
            <a:pPr>
              <a:lnSpc>
                <a:spcPct val="50000"/>
              </a:lnSpc>
              <a:buFont typeface="Arial" panose="020B0604020202020204" pitchFamily="34" charset="0"/>
              <a:buChar char="•"/>
            </a:pPr>
            <a:r>
              <a:rPr lang="en-US" dirty="0">
                <a:solidFill>
                  <a:schemeClr val="tx1">
                    <a:lumMod val="50000"/>
                    <a:lumOff val="50000"/>
                  </a:schemeClr>
                </a:solidFill>
              </a:rPr>
              <a:t> Helps verify guest data before performing further analysis.</a:t>
            </a:r>
            <a:endParaRPr lang="en-IN" dirty="0">
              <a:solidFill>
                <a:schemeClr val="tx1">
                  <a:lumMod val="50000"/>
                  <a:lumOff val="50000"/>
                </a:schemeClr>
              </a:solidFill>
            </a:endParaRPr>
          </a:p>
        </p:txBody>
      </p:sp>
      <p:sp>
        <p:nvSpPr>
          <p:cNvPr id="14" name="Rectangle 13">
            <a:extLst>
              <a:ext uri="{FF2B5EF4-FFF2-40B4-BE49-F238E27FC236}">
                <a16:creationId xmlns:a16="http://schemas.microsoft.com/office/drawing/2014/main" id="{45EC8CEE-1569-3909-FDC6-F7F0FD881F03}"/>
              </a:ext>
            </a:extLst>
          </p:cNvPr>
          <p:cNvSpPr/>
          <p:nvPr/>
        </p:nvSpPr>
        <p:spPr>
          <a:xfrm>
            <a:off x="3054096" y="3211583"/>
            <a:ext cx="6620256" cy="78654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Content Placeholder 2">
            <a:extLst>
              <a:ext uri="{FF2B5EF4-FFF2-40B4-BE49-F238E27FC236}">
                <a16:creationId xmlns:a16="http://schemas.microsoft.com/office/drawing/2014/main" id="{6D1D9C17-9C45-4C21-84CE-C3AF4A82D842}"/>
              </a:ext>
            </a:extLst>
          </p:cNvPr>
          <p:cNvSpPr txBox="1">
            <a:spLocks/>
          </p:cNvSpPr>
          <p:nvPr/>
        </p:nvSpPr>
        <p:spPr>
          <a:xfrm>
            <a:off x="1226681" y="4314673"/>
            <a:ext cx="2797146"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400" b="1" dirty="0">
                <a:solidFill>
                  <a:schemeClr val="accent2"/>
                </a:solidFill>
              </a:rPr>
              <a:t>2. Count total guests</a:t>
            </a:r>
          </a:p>
          <a:p>
            <a:endParaRPr lang="en-IN" sz="2400" dirty="0">
              <a:solidFill>
                <a:schemeClr val="tx1">
                  <a:lumMod val="50000"/>
                  <a:lumOff val="50000"/>
                </a:schemeClr>
              </a:solidFill>
            </a:endParaRPr>
          </a:p>
        </p:txBody>
      </p:sp>
      <p:pic>
        <p:nvPicPr>
          <p:cNvPr id="17" name="Picture 16">
            <a:extLst>
              <a:ext uri="{FF2B5EF4-FFF2-40B4-BE49-F238E27FC236}">
                <a16:creationId xmlns:a16="http://schemas.microsoft.com/office/drawing/2014/main" id="{A6934405-DEDF-B5E7-4B5E-1E21DE7D45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6681" y="4880030"/>
            <a:ext cx="4715533" cy="266737"/>
          </a:xfrm>
          <a:prstGeom prst="rect">
            <a:avLst/>
          </a:prstGeom>
        </p:spPr>
      </p:pic>
      <p:pic>
        <p:nvPicPr>
          <p:cNvPr id="19" name="Picture 18">
            <a:extLst>
              <a:ext uri="{FF2B5EF4-FFF2-40B4-BE49-F238E27FC236}">
                <a16:creationId xmlns:a16="http://schemas.microsoft.com/office/drawing/2014/main" id="{C6DD9D51-C115-9798-7A93-50AE9B4AD0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59498" y="4360222"/>
            <a:ext cx="2112876" cy="786545"/>
          </a:xfrm>
          <a:prstGeom prst="rect">
            <a:avLst/>
          </a:prstGeom>
        </p:spPr>
      </p:pic>
      <p:sp>
        <p:nvSpPr>
          <p:cNvPr id="20" name="Arrow: Right 19">
            <a:extLst>
              <a:ext uri="{FF2B5EF4-FFF2-40B4-BE49-F238E27FC236}">
                <a16:creationId xmlns:a16="http://schemas.microsoft.com/office/drawing/2014/main" id="{9F98262B-91FE-7EBD-3332-55E9666B89AA}"/>
              </a:ext>
            </a:extLst>
          </p:cNvPr>
          <p:cNvSpPr/>
          <p:nvPr/>
        </p:nvSpPr>
        <p:spPr>
          <a:xfrm>
            <a:off x="6302572" y="4577432"/>
            <a:ext cx="1496568" cy="5577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0E0C384D-B7E9-81FC-AFDE-2DE49AEA98F0}"/>
              </a:ext>
            </a:extLst>
          </p:cNvPr>
          <p:cNvSpPr/>
          <p:nvPr/>
        </p:nvSpPr>
        <p:spPr>
          <a:xfrm>
            <a:off x="1235358" y="5267061"/>
            <a:ext cx="10212930" cy="97881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Content Placeholder 2">
            <a:extLst>
              <a:ext uri="{FF2B5EF4-FFF2-40B4-BE49-F238E27FC236}">
                <a16:creationId xmlns:a16="http://schemas.microsoft.com/office/drawing/2014/main" id="{3C980426-21A5-2A65-D5BF-1DB480166A3D}"/>
              </a:ext>
            </a:extLst>
          </p:cNvPr>
          <p:cNvSpPr txBox="1">
            <a:spLocks/>
          </p:cNvSpPr>
          <p:nvPr/>
        </p:nvSpPr>
        <p:spPr>
          <a:xfrm>
            <a:off x="1330948" y="5289774"/>
            <a:ext cx="9943247" cy="82756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80000"/>
              </a:lnSpc>
              <a:buFont typeface="Arial" panose="020B0604020202020204" pitchFamily="34" charset="0"/>
              <a:buChar char="•"/>
            </a:pPr>
            <a:r>
              <a:rPr lang="en-US" sz="1700" dirty="0">
                <a:solidFill>
                  <a:schemeClr val="tx1">
                    <a:lumMod val="50000"/>
                    <a:lumOff val="50000"/>
                  </a:schemeClr>
                </a:solidFill>
              </a:rPr>
              <a:t>This query provides the total number of guests stored in the system, helping to understand </a:t>
            </a:r>
            <a:r>
              <a:rPr lang="en-IN" sz="1700" dirty="0">
                <a:solidFill>
                  <a:schemeClr val="tx1">
                    <a:lumMod val="50000"/>
                    <a:lumOff val="50000"/>
                  </a:schemeClr>
                </a:solidFill>
              </a:rPr>
              <a:t>overall customer volume.</a:t>
            </a:r>
          </a:p>
          <a:p>
            <a:pPr>
              <a:lnSpc>
                <a:spcPct val="70000"/>
              </a:lnSpc>
              <a:buFont typeface="Arial" panose="020B0604020202020204" pitchFamily="34" charset="0"/>
              <a:buChar char="•"/>
            </a:pPr>
            <a:r>
              <a:rPr lang="en-US" sz="1700" dirty="0">
                <a:solidFill>
                  <a:schemeClr val="tx1">
                    <a:lumMod val="50000"/>
                    <a:lumOff val="50000"/>
                  </a:schemeClr>
                </a:solidFill>
              </a:rPr>
              <a:t>The result can be used to analyze business growth and support capacity planning and reporting.</a:t>
            </a:r>
          </a:p>
          <a:p>
            <a:pPr>
              <a:lnSpc>
                <a:spcPct val="70000"/>
              </a:lnSpc>
              <a:buFont typeface="Arial" panose="020B0604020202020204" pitchFamily="34" charset="0"/>
              <a:buChar char="•"/>
            </a:pPr>
            <a:endParaRPr lang="en-US" sz="1700" dirty="0">
              <a:solidFill>
                <a:schemeClr val="tx1">
                  <a:lumMod val="50000"/>
                  <a:lumOff val="50000"/>
                </a:schemeClr>
              </a:solidFill>
            </a:endParaRPr>
          </a:p>
        </p:txBody>
      </p:sp>
      <p:cxnSp>
        <p:nvCxnSpPr>
          <p:cNvPr id="24" name="Straight Connector 23">
            <a:extLst>
              <a:ext uri="{FF2B5EF4-FFF2-40B4-BE49-F238E27FC236}">
                <a16:creationId xmlns:a16="http://schemas.microsoft.com/office/drawing/2014/main" id="{376AFD3E-9A0A-AA9F-64FD-E229314667F3}"/>
              </a:ext>
            </a:extLst>
          </p:cNvPr>
          <p:cNvCxnSpPr>
            <a:cxnSpLocks/>
          </p:cNvCxnSpPr>
          <p:nvPr/>
        </p:nvCxnSpPr>
        <p:spPr>
          <a:xfrm>
            <a:off x="1226681" y="4187952"/>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1836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56E9-EBEF-0D5F-893C-B1B3B5642E2B}"/>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solidFill>
                <a:schemeClr val="tx1"/>
              </a:solidFill>
            </a:endParaRPr>
          </a:p>
        </p:txBody>
      </p:sp>
      <p:sp>
        <p:nvSpPr>
          <p:cNvPr id="4" name="Content Placeholder 2">
            <a:extLst>
              <a:ext uri="{FF2B5EF4-FFF2-40B4-BE49-F238E27FC236}">
                <a16:creationId xmlns:a16="http://schemas.microsoft.com/office/drawing/2014/main" id="{C4CC2997-378B-334F-AC82-5355EFE6DCED}"/>
              </a:ext>
            </a:extLst>
          </p:cNvPr>
          <p:cNvSpPr>
            <a:spLocks noGrp="1"/>
          </p:cNvSpPr>
          <p:nvPr>
            <p:ph idx="1"/>
          </p:nvPr>
        </p:nvSpPr>
        <p:spPr>
          <a:xfrm>
            <a:off x="1253646" y="1902294"/>
            <a:ext cx="3217770" cy="385402"/>
          </a:xfrm>
        </p:spPr>
        <p:txBody>
          <a:bodyPr>
            <a:noAutofit/>
          </a:bodyPr>
          <a:lstStyle/>
          <a:p>
            <a:r>
              <a:rPr lang="en-IN" sz="2400" b="1" dirty="0">
                <a:solidFill>
                  <a:schemeClr val="accent2"/>
                </a:solidFill>
              </a:rPr>
              <a:t>3. Show available rooms</a:t>
            </a:r>
            <a:endParaRPr lang="en-IN" sz="2400" dirty="0">
              <a:solidFill>
                <a:schemeClr val="tx1">
                  <a:lumMod val="50000"/>
                  <a:lumOff val="50000"/>
                </a:schemeClr>
              </a:solidFill>
            </a:endParaRPr>
          </a:p>
        </p:txBody>
      </p:sp>
      <p:pic>
        <p:nvPicPr>
          <p:cNvPr id="6" name="Picture 5">
            <a:extLst>
              <a:ext uri="{FF2B5EF4-FFF2-40B4-BE49-F238E27FC236}">
                <a16:creationId xmlns:a16="http://schemas.microsoft.com/office/drawing/2014/main" id="{0FF7A96A-5472-9F29-852C-6E336F7B9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030" y="2375503"/>
            <a:ext cx="4391638" cy="571580"/>
          </a:xfrm>
          <a:prstGeom prst="rect">
            <a:avLst/>
          </a:prstGeom>
        </p:spPr>
      </p:pic>
      <p:pic>
        <p:nvPicPr>
          <p:cNvPr id="8" name="Picture 7">
            <a:extLst>
              <a:ext uri="{FF2B5EF4-FFF2-40B4-BE49-F238E27FC236}">
                <a16:creationId xmlns:a16="http://schemas.microsoft.com/office/drawing/2014/main" id="{21132CCF-0CE6-3636-9C86-0FDA37675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7466" y="2051313"/>
            <a:ext cx="2248214" cy="895770"/>
          </a:xfrm>
          <a:prstGeom prst="rect">
            <a:avLst/>
          </a:prstGeom>
        </p:spPr>
      </p:pic>
      <p:sp>
        <p:nvSpPr>
          <p:cNvPr id="12" name="Arrow: Right 11">
            <a:extLst>
              <a:ext uri="{FF2B5EF4-FFF2-40B4-BE49-F238E27FC236}">
                <a16:creationId xmlns:a16="http://schemas.microsoft.com/office/drawing/2014/main" id="{D4107A92-F784-3FE3-00E0-DA6F127F5ACB}"/>
              </a:ext>
            </a:extLst>
          </p:cNvPr>
          <p:cNvSpPr/>
          <p:nvPr/>
        </p:nvSpPr>
        <p:spPr>
          <a:xfrm>
            <a:off x="6392455" y="2287696"/>
            <a:ext cx="1792224" cy="5577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Content Placeholder 2">
            <a:extLst>
              <a:ext uri="{FF2B5EF4-FFF2-40B4-BE49-F238E27FC236}">
                <a16:creationId xmlns:a16="http://schemas.microsoft.com/office/drawing/2014/main" id="{21F34C06-FEB9-02C8-E5B9-74C1EAC0A776}"/>
              </a:ext>
            </a:extLst>
          </p:cNvPr>
          <p:cNvSpPr txBox="1">
            <a:spLocks/>
          </p:cNvSpPr>
          <p:nvPr/>
        </p:nvSpPr>
        <p:spPr>
          <a:xfrm>
            <a:off x="2087274" y="3098102"/>
            <a:ext cx="8109810" cy="65840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70000"/>
              </a:lnSpc>
              <a:buFont typeface="Arial" panose="020B0604020202020204" pitchFamily="34" charset="0"/>
              <a:buChar char="•"/>
            </a:pPr>
            <a:r>
              <a:rPr lang="en-US" sz="1900" dirty="0">
                <a:solidFill>
                  <a:schemeClr val="tx1">
                    <a:lumMod val="50000"/>
                    <a:lumOff val="50000"/>
                  </a:schemeClr>
                </a:solidFill>
              </a:rPr>
              <a:t> </a:t>
            </a:r>
            <a:r>
              <a:rPr lang="en-US" sz="1800" dirty="0">
                <a:solidFill>
                  <a:schemeClr val="tx1">
                    <a:lumMod val="50000"/>
                    <a:lumOff val="50000"/>
                  </a:schemeClr>
                </a:solidFill>
              </a:rPr>
              <a:t>This query shows rooms that are currently available for new bookings.</a:t>
            </a:r>
            <a:endParaRPr lang="en-US" sz="1900" dirty="0">
              <a:solidFill>
                <a:schemeClr val="tx1">
                  <a:lumMod val="50000"/>
                  <a:lumOff val="50000"/>
                </a:schemeClr>
              </a:solidFill>
            </a:endParaRPr>
          </a:p>
          <a:p>
            <a:pPr>
              <a:lnSpc>
                <a:spcPct val="70000"/>
              </a:lnSpc>
              <a:buFont typeface="Arial" panose="020B0604020202020204" pitchFamily="34" charset="0"/>
              <a:buChar char="•"/>
            </a:pPr>
            <a:r>
              <a:rPr lang="en-US" dirty="0">
                <a:solidFill>
                  <a:schemeClr val="tx1">
                    <a:lumMod val="50000"/>
                    <a:lumOff val="50000"/>
                  </a:schemeClr>
                </a:solidFill>
              </a:rPr>
              <a:t> </a:t>
            </a:r>
            <a:r>
              <a:rPr lang="en-US" sz="1800" b="1" dirty="0">
                <a:solidFill>
                  <a:schemeClr val="tx1">
                    <a:lumMod val="50000"/>
                    <a:lumOff val="50000"/>
                  </a:schemeClr>
                </a:solidFill>
              </a:rPr>
              <a:t>WHERE clause</a:t>
            </a:r>
            <a:r>
              <a:rPr lang="en-US" sz="1800" dirty="0">
                <a:solidFill>
                  <a:schemeClr val="tx1">
                    <a:lumMod val="50000"/>
                    <a:lumOff val="50000"/>
                  </a:schemeClr>
                </a:solidFill>
              </a:rPr>
              <a:t> – used to filter rooms based on availability status (status = 'Available').</a:t>
            </a:r>
          </a:p>
        </p:txBody>
      </p:sp>
      <p:sp>
        <p:nvSpPr>
          <p:cNvPr id="10" name="Rectangle 9">
            <a:extLst>
              <a:ext uri="{FF2B5EF4-FFF2-40B4-BE49-F238E27FC236}">
                <a16:creationId xmlns:a16="http://schemas.microsoft.com/office/drawing/2014/main" id="{77C96A0F-7D81-6DFD-86F7-F724BD8493A3}"/>
              </a:ext>
            </a:extLst>
          </p:cNvPr>
          <p:cNvSpPr/>
          <p:nvPr/>
        </p:nvSpPr>
        <p:spPr>
          <a:xfrm>
            <a:off x="1994915" y="3015148"/>
            <a:ext cx="8202169" cy="89577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Content Placeholder 2">
            <a:extLst>
              <a:ext uri="{FF2B5EF4-FFF2-40B4-BE49-F238E27FC236}">
                <a16:creationId xmlns:a16="http://schemas.microsoft.com/office/drawing/2014/main" id="{31378F91-52F4-0F50-2E02-D127B12CBC9C}"/>
              </a:ext>
            </a:extLst>
          </p:cNvPr>
          <p:cNvSpPr txBox="1">
            <a:spLocks/>
          </p:cNvSpPr>
          <p:nvPr/>
        </p:nvSpPr>
        <p:spPr>
          <a:xfrm>
            <a:off x="1253646" y="4155787"/>
            <a:ext cx="3300066"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400" b="1" dirty="0">
                <a:solidFill>
                  <a:schemeClr val="accent2"/>
                </a:solidFill>
              </a:rPr>
              <a:t>4. Show occupied rooms</a:t>
            </a:r>
            <a:endParaRPr lang="en-IN" sz="2400" dirty="0">
              <a:solidFill>
                <a:schemeClr val="tx1">
                  <a:lumMod val="50000"/>
                  <a:lumOff val="50000"/>
                </a:schemeClr>
              </a:solidFill>
            </a:endParaRPr>
          </a:p>
        </p:txBody>
      </p:sp>
      <p:pic>
        <p:nvPicPr>
          <p:cNvPr id="14" name="Picture 13">
            <a:extLst>
              <a:ext uri="{FF2B5EF4-FFF2-40B4-BE49-F238E27FC236}">
                <a16:creationId xmlns:a16="http://schemas.microsoft.com/office/drawing/2014/main" id="{3162AE9C-12A6-8B8C-3363-886E4575CF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9440" y="4586909"/>
            <a:ext cx="3248478" cy="638264"/>
          </a:xfrm>
          <a:prstGeom prst="rect">
            <a:avLst/>
          </a:prstGeom>
        </p:spPr>
      </p:pic>
      <p:pic>
        <p:nvPicPr>
          <p:cNvPr id="16" name="Picture 15">
            <a:extLst>
              <a:ext uri="{FF2B5EF4-FFF2-40B4-BE49-F238E27FC236}">
                <a16:creationId xmlns:a16="http://schemas.microsoft.com/office/drawing/2014/main" id="{F6669D0E-D7DD-BEFA-D3AB-C10D38F3C5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7466" y="4348488"/>
            <a:ext cx="2248214" cy="895770"/>
          </a:xfrm>
          <a:prstGeom prst="rect">
            <a:avLst/>
          </a:prstGeom>
        </p:spPr>
      </p:pic>
      <p:sp>
        <p:nvSpPr>
          <p:cNvPr id="17" name="Arrow: Right 16">
            <a:extLst>
              <a:ext uri="{FF2B5EF4-FFF2-40B4-BE49-F238E27FC236}">
                <a16:creationId xmlns:a16="http://schemas.microsoft.com/office/drawing/2014/main" id="{4CADA457-1CB0-F8A8-4A1C-7C6D36783E27}"/>
              </a:ext>
            </a:extLst>
          </p:cNvPr>
          <p:cNvSpPr/>
          <p:nvPr/>
        </p:nvSpPr>
        <p:spPr>
          <a:xfrm>
            <a:off x="5418119" y="4517481"/>
            <a:ext cx="2599145" cy="5577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Content Placeholder 2">
            <a:extLst>
              <a:ext uri="{FF2B5EF4-FFF2-40B4-BE49-F238E27FC236}">
                <a16:creationId xmlns:a16="http://schemas.microsoft.com/office/drawing/2014/main" id="{A909FD03-549B-804E-17CE-10AD3FC16BDD}"/>
              </a:ext>
            </a:extLst>
          </p:cNvPr>
          <p:cNvSpPr txBox="1">
            <a:spLocks/>
          </p:cNvSpPr>
          <p:nvPr/>
        </p:nvSpPr>
        <p:spPr>
          <a:xfrm>
            <a:off x="2903679" y="5408660"/>
            <a:ext cx="8109810" cy="65840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70000"/>
              </a:lnSpc>
              <a:buFont typeface="Arial" panose="020B0604020202020204" pitchFamily="34" charset="0"/>
              <a:buChar char="•"/>
            </a:pPr>
            <a:r>
              <a:rPr lang="en-US" sz="1900" dirty="0">
                <a:solidFill>
                  <a:schemeClr val="tx1">
                    <a:lumMod val="50000"/>
                    <a:lumOff val="50000"/>
                  </a:schemeClr>
                </a:solidFill>
              </a:rPr>
              <a:t> </a:t>
            </a:r>
            <a:r>
              <a:rPr lang="en-US" sz="1800" dirty="0">
                <a:solidFill>
                  <a:schemeClr val="tx1">
                    <a:lumMod val="50000"/>
                    <a:lumOff val="50000"/>
                  </a:schemeClr>
                </a:solidFill>
              </a:rPr>
              <a:t>This query identifies all rooms that are currently occupied.</a:t>
            </a:r>
          </a:p>
          <a:p>
            <a:pPr>
              <a:lnSpc>
                <a:spcPct val="70000"/>
              </a:lnSpc>
              <a:buFont typeface="Arial" panose="020B0604020202020204" pitchFamily="34" charset="0"/>
              <a:buChar char="•"/>
            </a:pPr>
            <a:r>
              <a:rPr lang="en-US" sz="1800" dirty="0">
                <a:solidFill>
                  <a:schemeClr val="tx1">
                    <a:lumMod val="50000"/>
                    <a:lumOff val="50000"/>
                  </a:schemeClr>
                </a:solidFill>
              </a:rPr>
              <a:t> It helps monitor room utilization and manage availability effectively.</a:t>
            </a:r>
          </a:p>
          <a:p>
            <a:pPr>
              <a:lnSpc>
                <a:spcPct val="70000"/>
              </a:lnSpc>
              <a:buFont typeface="Arial" panose="020B0604020202020204" pitchFamily="34" charset="0"/>
              <a:buChar char="•"/>
            </a:pPr>
            <a:endParaRPr lang="en-US" sz="1800" dirty="0">
              <a:solidFill>
                <a:schemeClr val="tx1">
                  <a:lumMod val="50000"/>
                  <a:lumOff val="50000"/>
                </a:schemeClr>
              </a:solidFill>
            </a:endParaRPr>
          </a:p>
        </p:txBody>
      </p:sp>
      <p:sp>
        <p:nvSpPr>
          <p:cNvPr id="20" name="Rectangle 19">
            <a:extLst>
              <a:ext uri="{FF2B5EF4-FFF2-40B4-BE49-F238E27FC236}">
                <a16:creationId xmlns:a16="http://schemas.microsoft.com/office/drawing/2014/main" id="{D288366C-BB11-3C39-B151-B0BEFC43DB55}"/>
              </a:ext>
            </a:extLst>
          </p:cNvPr>
          <p:cNvSpPr/>
          <p:nvPr/>
        </p:nvSpPr>
        <p:spPr>
          <a:xfrm>
            <a:off x="2795342" y="5289978"/>
            <a:ext cx="6662275" cy="89577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Connector 20">
            <a:extLst>
              <a:ext uri="{FF2B5EF4-FFF2-40B4-BE49-F238E27FC236}">
                <a16:creationId xmlns:a16="http://schemas.microsoft.com/office/drawing/2014/main" id="{1CE77524-F3F1-6660-7A1B-AEC8D2646D93}"/>
              </a:ext>
            </a:extLst>
          </p:cNvPr>
          <p:cNvCxnSpPr>
            <a:cxnSpLocks/>
          </p:cNvCxnSpPr>
          <p:nvPr/>
        </p:nvCxnSpPr>
        <p:spPr>
          <a:xfrm>
            <a:off x="1226681" y="4078224"/>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056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E0C21-CB28-F887-1749-AFD1F3E2C3E0}"/>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solidFill>
                <a:schemeClr val="tx1"/>
              </a:solidFill>
            </a:endParaRPr>
          </a:p>
        </p:txBody>
      </p:sp>
      <p:sp>
        <p:nvSpPr>
          <p:cNvPr id="4" name="Content Placeholder 2">
            <a:extLst>
              <a:ext uri="{FF2B5EF4-FFF2-40B4-BE49-F238E27FC236}">
                <a16:creationId xmlns:a16="http://schemas.microsoft.com/office/drawing/2014/main" id="{CDC53E3E-3F80-59D4-D288-682426F114CA}"/>
              </a:ext>
            </a:extLst>
          </p:cNvPr>
          <p:cNvSpPr>
            <a:spLocks noGrp="1"/>
          </p:cNvSpPr>
          <p:nvPr>
            <p:ph idx="1"/>
          </p:nvPr>
        </p:nvSpPr>
        <p:spPr>
          <a:xfrm>
            <a:off x="1097168" y="1843535"/>
            <a:ext cx="5476338" cy="385402"/>
          </a:xfrm>
        </p:spPr>
        <p:txBody>
          <a:bodyPr>
            <a:noAutofit/>
          </a:bodyPr>
          <a:lstStyle/>
          <a:p>
            <a:r>
              <a:rPr lang="en-IN" sz="2400" b="1" dirty="0">
                <a:solidFill>
                  <a:schemeClr val="accent2"/>
                </a:solidFill>
              </a:rPr>
              <a:t>5. </a:t>
            </a:r>
            <a:r>
              <a:rPr lang="en-US" sz="2400" b="1" dirty="0">
                <a:solidFill>
                  <a:schemeClr val="accent2"/>
                </a:solidFill>
              </a:rPr>
              <a:t>Show all reservations with guest names</a:t>
            </a:r>
            <a:endParaRPr lang="en-IN" sz="2400" dirty="0">
              <a:solidFill>
                <a:schemeClr val="tx1">
                  <a:lumMod val="50000"/>
                  <a:lumOff val="50000"/>
                </a:schemeClr>
              </a:solidFill>
            </a:endParaRPr>
          </a:p>
        </p:txBody>
      </p:sp>
      <p:pic>
        <p:nvPicPr>
          <p:cNvPr id="6" name="Picture 5">
            <a:extLst>
              <a:ext uri="{FF2B5EF4-FFF2-40B4-BE49-F238E27FC236}">
                <a16:creationId xmlns:a16="http://schemas.microsoft.com/office/drawing/2014/main" id="{83676A6C-4C89-66DF-4E72-1026EB73CF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1164" y="2265513"/>
            <a:ext cx="4772882" cy="1112176"/>
          </a:xfrm>
          <a:prstGeom prst="rect">
            <a:avLst/>
          </a:prstGeom>
        </p:spPr>
      </p:pic>
      <p:pic>
        <p:nvPicPr>
          <p:cNvPr id="8" name="Picture 7">
            <a:extLst>
              <a:ext uri="{FF2B5EF4-FFF2-40B4-BE49-F238E27FC236}">
                <a16:creationId xmlns:a16="http://schemas.microsoft.com/office/drawing/2014/main" id="{C945C710-6E32-BBBD-9188-6445667287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82128" y="2036236"/>
            <a:ext cx="3273552" cy="1200318"/>
          </a:xfrm>
          <a:prstGeom prst="rect">
            <a:avLst/>
          </a:prstGeom>
        </p:spPr>
      </p:pic>
      <p:sp>
        <p:nvSpPr>
          <p:cNvPr id="9" name="Arrow: Right 8">
            <a:extLst>
              <a:ext uri="{FF2B5EF4-FFF2-40B4-BE49-F238E27FC236}">
                <a16:creationId xmlns:a16="http://schemas.microsoft.com/office/drawing/2014/main" id="{97611B5A-EE8E-2EB0-F241-2207FE21B194}"/>
              </a:ext>
            </a:extLst>
          </p:cNvPr>
          <p:cNvSpPr/>
          <p:nvPr/>
        </p:nvSpPr>
        <p:spPr>
          <a:xfrm>
            <a:off x="6573506" y="2513293"/>
            <a:ext cx="1084689" cy="3854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B3C3119-B2F5-D85E-68DB-DC07647C5367}"/>
              </a:ext>
            </a:extLst>
          </p:cNvPr>
          <p:cNvSpPr txBox="1"/>
          <p:nvPr/>
        </p:nvSpPr>
        <p:spPr>
          <a:xfrm>
            <a:off x="1151164" y="3507291"/>
            <a:ext cx="10058400"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This query displays reservation details along with the corresponding guest names and room numbers.</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It helps track guest stay periods by showing check-in and check-out dates.</a:t>
            </a:r>
            <a:endParaRPr lang="en-IN" dirty="0">
              <a:solidFill>
                <a:schemeClr val="tx1">
                  <a:lumMod val="50000"/>
                  <a:lumOff val="50000"/>
                </a:schemeClr>
              </a:solidFill>
            </a:endParaRPr>
          </a:p>
        </p:txBody>
      </p:sp>
      <p:sp>
        <p:nvSpPr>
          <p:cNvPr id="13" name="Rectangle 12">
            <a:extLst>
              <a:ext uri="{FF2B5EF4-FFF2-40B4-BE49-F238E27FC236}">
                <a16:creationId xmlns:a16="http://schemas.microsoft.com/office/drawing/2014/main" id="{9B4FD9C0-B65F-4BBE-DBD0-83E033CE0360}"/>
              </a:ext>
            </a:extLst>
          </p:cNvPr>
          <p:cNvSpPr/>
          <p:nvPr/>
        </p:nvSpPr>
        <p:spPr>
          <a:xfrm>
            <a:off x="1112520" y="3429000"/>
            <a:ext cx="9966960"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Content Placeholder 2">
            <a:extLst>
              <a:ext uri="{FF2B5EF4-FFF2-40B4-BE49-F238E27FC236}">
                <a16:creationId xmlns:a16="http://schemas.microsoft.com/office/drawing/2014/main" id="{827E7EB0-CA37-D606-263B-EFB783092207}"/>
              </a:ext>
            </a:extLst>
          </p:cNvPr>
          <p:cNvSpPr txBox="1">
            <a:spLocks/>
          </p:cNvSpPr>
          <p:nvPr/>
        </p:nvSpPr>
        <p:spPr>
          <a:xfrm>
            <a:off x="1151164" y="4533179"/>
            <a:ext cx="3585428"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400" b="1" dirty="0">
                <a:solidFill>
                  <a:schemeClr val="accent2"/>
                </a:solidFill>
              </a:rPr>
              <a:t>6. Total revenue generated</a:t>
            </a:r>
            <a:endParaRPr lang="en-IN" sz="2400" dirty="0">
              <a:solidFill>
                <a:schemeClr val="tx1">
                  <a:lumMod val="50000"/>
                  <a:lumOff val="50000"/>
                </a:schemeClr>
              </a:solidFill>
            </a:endParaRPr>
          </a:p>
        </p:txBody>
      </p:sp>
      <p:pic>
        <p:nvPicPr>
          <p:cNvPr id="16" name="Picture 15">
            <a:extLst>
              <a:ext uri="{FF2B5EF4-FFF2-40B4-BE49-F238E27FC236}">
                <a16:creationId xmlns:a16="http://schemas.microsoft.com/office/drawing/2014/main" id="{8E973CC8-96B5-8909-2025-E6BE4BCF8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164" y="4941369"/>
            <a:ext cx="4362668" cy="333422"/>
          </a:xfrm>
          <a:prstGeom prst="rect">
            <a:avLst/>
          </a:prstGeom>
        </p:spPr>
      </p:pic>
      <p:pic>
        <p:nvPicPr>
          <p:cNvPr id="18" name="Picture 17">
            <a:extLst>
              <a:ext uri="{FF2B5EF4-FFF2-40B4-BE49-F238E27FC236}">
                <a16:creationId xmlns:a16="http://schemas.microsoft.com/office/drawing/2014/main" id="{A7F21A2E-D7B6-7DA4-C4CB-570D330051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6324" y="4598095"/>
            <a:ext cx="2096430" cy="676696"/>
          </a:xfrm>
          <a:prstGeom prst="rect">
            <a:avLst/>
          </a:prstGeom>
        </p:spPr>
      </p:pic>
      <p:sp>
        <p:nvSpPr>
          <p:cNvPr id="19" name="Arrow: Right 18">
            <a:extLst>
              <a:ext uri="{FF2B5EF4-FFF2-40B4-BE49-F238E27FC236}">
                <a16:creationId xmlns:a16="http://schemas.microsoft.com/office/drawing/2014/main" id="{B0247B8E-9B3C-DBD2-3837-5EC16595E437}"/>
              </a:ext>
            </a:extLst>
          </p:cNvPr>
          <p:cNvSpPr/>
          <p:nvPr/>
        </p:nvSpPr>
        <p:spPr>
          <a:xfrm>
            <a:off x="6232799" y="4743742"/>
            <a:ext cx="1823891" cy="3854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618819B1-52A6-3F13-98C6-3A810BEA890F}"/>
              </a:ext>
            </a:extLst>
          </p:cNvPr>
          <p:cNvSpPr txBox="1"/>
          <p:nvPr/>
        </p:nvSpPr>
        <p:spPr>
          <a:xfrm>
            <a:off x="4131332" y="5460981"/>
            <a:ext cx="3639312"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Shows the total revenue earned.</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track overall hotel income.</a:t>
            </a:r>
            <a:endParaRPr lang="en-IN" dirty="0">
              <a:solidFill>
                <a:schemeClr val="tx1">
                  <a:lumMod val="50000"/>
                  <a:lumOff val="50000"/>
                </a:schemeClr>
              </a:solidFill>
            </a:endParaRPr>
          </a:p>
        </p:txBody>
      </p:sp>
      <p:sp>
        <p:nvSpPr>
          <p:cNvPr id="21" name="Rectangle 20">
            <a:extLst>
              <a:ext uri="{FF2B5EF4-FFF2-40B4-BE49-F238E27FC236}">
                <a16:creationId xmlns:a16="http://schemas.microsoft.com/office/drawing/2014/main" id="{AF654F45-38D5-DDF8-37B6-0FC2EE04F839}"/>
              </a:ext>
            </a:extLst>
          </p:cNvPr>
          <p:cNvSpPr/>
          <p:nvPr/>
        </p:nvSpPr>
        <p:spPr>
          <a:xfrm>
            <a:off x="4131332" y="5372667"/>
            <a:ext cx="3585428"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Connector 21">
            <a:extLst>
              <a:ext uri="{FF2B5EF4-FFF2-40B4-BE49-F238E27FC236}">
                <a16:creationId xmlns:a16="http://schemas.microsoft.com/office/drawing/2014/main" id="{CB92AC63-9DF8-A8A6-8A29-AC3AF231665E}"/>
              </a:ext>
            </a:extLst>
          </p:cNvPr>
          <p:cNvCxnSpPr>
            <a:cxnSpLocks/>
          </p:cNvCxnSpPr>
          <p:nvPr/>
        </p:nvCxnSpPr>
        <p:spPr>
          <a:xfrm>
            <a:off x="1150481" y="4398264"/>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096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D9F88-4E58-1FD2-4394-287F6824EE1F}"/>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solidFill>
                <a:schemeClr val="tx1"/>
              </a:solidFill>
            </a:endParaRPr>
          </a:p>
        </p:txBody>
      </p:sp>
      <p:sp>
        <p:nvSpPr>
          <p:cNvPr id="9" name="Content Placeholder 2">
            <a:extLst>
              <a:ext uri="{FF2B5EF4-FFF2-40B4-BE49-F238E27FC236}">
                <a16:creationId xmlns:a16="http://schemas.microsoft.com/office/drawing/2014/main" id="{B1158B0C-7FF7-44D5-3887-01A5E2A625A3}"/>
              </a:ext>
            </a:extLst>
          </p:cNvPr>
          <p:cNvSpPr>
            <a:spLocks noGrp="1"/>
          </p:cNvSpPr>
          <p:nvPr>
            <p:ph idx="1"/>
          </p:nvPr>
        </p:nvSpPr>
        <p:spPr>
          <a:xfrm>
            <a:off x="1097168" y="1843535"/>
            <a:ext cx="2990200" cy="385402"/>
          </a:xfrm>
        </p:spPr>
        <p:txBody>
          <a:bodyPr>
            <a:noAutofit/>
          </a:bodyPr>
          <a:lstStyle/>
          <a:p>
            <a:r>
              <a:rPr lang="en-US" sz="2400" b="1" dirty="0">
                <a:solidFill>
                  <a:schemeClr val="accent2"/>
                </a:solidFill>
              </a:rPr>
              <a:t>7. Average room price</a:t>
            </a:r>
            <a:endParaRPr lang="en-IN" sz="2400" dirty="0">
              <a:solidFill>
                <a:schemeClr val="tx1">
                  <a:lumMod val="50000"/>
                  <a:lumOff val="50000"/>
                </a:schemeClr>
              </a:solidFill>
            </a:endParaRPr>
          </a:p>
        </p:txBody>
      </p:sp>
      <p:pic>
        <p:nvPicPr>
          <p:cNvPr id="14" name="Picture 13">
            <a:extLst>
              <a:ext uri="{FF2B5EF4-FFF2-40B4-BE49-F238E27FC236}">
                <a16:creationId xmlns:a16="http://schemas.microsoft.com/office/drawing/2014/main" id="{56E3FE29-D30D-4C74-9F21-09D0DF559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169" y="2335112"/>
            <a:ext cx="4398376" cy="316648"/>
          </a:xfrm>
          <a:prstGeom prst="rect">
            <a:avLst/>
          </a:prstGeom>
        </p:spPr>
      </p:pic>
      <p:pic>
        <p:nvPicPr>
          <p:cNvPr id="16" name="Picture 15">
            <a:extLst>
              <a:ext uri="{FF2B5EF4-FFF2-40B4-BE49-F238E27FC236}">
                <a16:creationId xmlns:a16="http://schemas.microsoft.com/office/drawing/2014/main" id="{3DEAC439-3AC8-C1B4-9365-C4A152445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4544" y="1843535"/>
            <a:ext cx="2170287" cy="808225"/>
          </a:xfrm>
          <a:prstGeom prst="rect">
            <a:avLst/>
          </a:prstGeom>
        </p:spPr>
      </p:pic>
      <p:sp>
        <p:nvSpPr>
          <p:cNvPr id="17" name="Arrow: Right 16">
            <a:extLst>
              <a:ext uri="{FF2B5EF4-FFF2-40B4-BE49-F238E27FC236}">
                <a16:creationId xmlns:a16="http://schemas.microsoft.com/office/drawing/2014/main" id="{59A34550-D545-CC9E-16D8-8FB845DBB862}"/>
              </a:ext>
            </a:extLst>
          </p:cNvPr>
          <p:cNvSpPr/>
          <p:nvPr/>
        </p:nvSpPr>
        <p:spPr>
          <a:xfrm>
            <a:off x="6298099" y="2054946"/>
            <a:ext cx="1823891" cy="3854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6F73029E-437C-BC68-A9C7-67134D863D82}"/>
              </a:ext>
            </a:extLst>
          </p:cNvPr>
          <p:cNvSpPr txBox="1"/>
          <p:nvPr/>
        </p:nvSpPr>
        <p:spPr>
          <a:xfrm>
            <a:off x="3169042" y="2883346"/>
            <a:ext cx="5853916"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Shows the average price of all rooms per night.</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understand pricing trends and set competitive rates</a:t>
            </a:r>
            <a:endParaRPr lang="en-IN" dirty="0">
              <a:solidFill>
                <a:schemeClr val="tx1">
                  <a:lumMod val="50000"/>
                  <a:lumOff val="50000"/>
                </a:schemeClr>
              </a:solidFill>
            </a:endParaRPr>
          </a:p>
        </p:txBody>
      </p:sp>
      <p:sp>
        <p:nvSpPr>
          <p:cNvPr id="19" name="Rectangle 18">
            <a:extLst>
              <a:ext uri="{FF2B5EF4-FFF2-40B4-BE49-F238E27FC236}">
                <a16:creationId xmlns:a16="http://schemas.microsoft.com/office/drawing/2014/main" id="{6887DD08-17AE-0954-DEEB-0D1B2FE1AD53}"/>
              </a:ext>
            </a:extLst>
          </p:cNvPr>
          <p:cNvSpPr/>
          <p:nvPr/>
        </p:nvSpPr>
        <p:spPr>
          <a:xfrm>
            <a:off x="3169042" y="2826689"/>
            <a:ext cx="5853916"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413AE3DF-F26A-50AC-292E-EE0324FF4506}"/>
              </a:ext>
            </a:extLst>
          </p:cNvPr>
          <p:cNvCxnSpPr>
            <a:cxnSpLocks/>
          </p:cNvCxnSpPr>
          <p:nvPr/>
        </p:nvCxnSpPr>
        <p:spPr>
          <a:xfrm>
            <a:off x="1226681" y="3822192"/>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439973E1-2AAC-31D7-4C2F-928C9C46BDF3}"/>
              </a:ext>
            </a:extLst>
          </p:cNvPr>
          <p:cNvSpPr txBox="1">
            <a:spLocks/>
          </p:cNvSpPr>
          <p:nvPr/>
        </p:nvSpPr>
        <p:spPr>
          <a:xfrm>
            <a:off x="1226680" y="3903719"/>
            <a:ext cx="4625479"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solidFill>
                  <a:schemeClr val="accent2"/>
                </a:solidFill>
              </a:rPr>
              <a:t>8. Payment details with guest name</a:t>
            </a:r>
            <a:endParaRPr lang="en-IN" sz="2400" dirty="0">
              <a:solidFill>
                <a:schemeClr val="tx1">
                  <a:lumMod val="50000"/>
                  <a:lumOff val="50000"/>
                </a:schemeClr>
              </a:solidFill>
            </a:endParaRPr>
          </a:p>
        </p:txBody>
      </p:sp>
      <p:pic>
        <p:nvPicPr>
          <p:cNvPr id="23" name="Picture 22">
            <a:extLst>
              <a:ext uri="{FF2B5EF4-FFF2-40B4-BE49-F238E27FC236}">
                <a16:creationId xmlns:a16="http://schemas.microsoft.com/office/drawing/2014/main" id="{D519133D-5C17-3225-0EDC-2D78FA4936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9833" y="4333603"/>
            <a:ext cx="5265560" cy="981309"/>
          </a:xfrm>
          <a:prstGeom prst="rect">
            <a:avLst/>
          </a:prstGeom>
        </p:spPr>
      </p:pic>
      <p:pic>
        <p:nvPicPr>
          <p:cNvPr id="25" name="Picture 24">
            <a:extLst>
              <a:ext uri="{FF2B5EF4-FFF2-40B4-BE49-F238E27FC236}">
                <a16:creationId xmlns:a16="http://schemas.microsoft.com/office/drawing/2014/main" id="{BC0A7369-8CAB-96CD-440E-21CE7581EE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8200" y="4247416"/>
            <a:ext cx="2507120" cy="1051652"/>
          </a:xfrm>
          <a:prstGeom prst="rect">
            <a:avLst/>
          </a:prstGeom>
        </p:spPr>
      </p:pic>
      <p:sp>
        <p:nvSpPr>
          <p:cNvPr id="26" name="Arrow: Right 25">
            <a:extLst>
              <a:ext uri="{FF2B5EF4-FFF2-40B4-BE49-F238E27FC236}">
                <a16:creationId xmlns:a16="http://schemas.microsoft.com/office/drawing/2014/main" id="{D63CB241-B8D6-2F5B-E7A3-0B6A29893DE2}"/>
              </a:ext>
            </a:extLst>
          </p:cNvPr>
          <p:cNvSpPr/>
          <p:nvPr/>
        </p:nvSpPr>
        <p:spPr>
          <a:xfrm>
            <a:off x="6998441" y="4466287"/>
            <a:ext cx="1026711" cy="3854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B33B1CB8-36F9-374D-9B45-C3921F340722}"/>
              </a:ext>
            </a:extLst>
          </p:cNvPr>
          <p:cNvSpPr/>
          <p:nvPr/>
        </p:nvSpPr>
        <p:spPr>
          <a:xfrm>
            <a:off x="2642500" y="5393001"/>
            <a:ext cx="6846041"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743B4A5D-19FE-2A1E-E93B-3DB455EF3B3C}"/>
              </a:ext>
            </a:extLst>
          </p:cNvPr>
          <p:cNvSpPr txBox="1"/>
          <p:nvPr/>
        </p:nvSpPr>
        <p:spPr>
          <a:xfrm>
            <a:off x="2703459" y="5481315"/>
            <a:ext cx="6846041"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Displays payment amounts and methods along with guest names.</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track who paid and how, for easy financial management.</a:t>
            </a:r>
            <a:endParaRPr lang="en-IN" dirty="0">
              <a:solidFill>
                <a:schemeClr val="tx1">
                  <a:lumMod val="50000"/>
                  <a:lumOff val="50000"/>
                </a:schemeClr>
              </a:solidFill>
            </a:endParaRPr>
          </a:p>
        </p:txBody>
      </p:sp>
    </p:spTree>
    <p:extLst>
      <p:ext uri="{BB962C8B-B14F-4D97-AF65-F5344CB8AC3E}">
        <p14:creationId xmlns:p14="http://schemas.microsoft.com/office/powerpoint/2010/main" val="697928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F54B-07C1-9CC4-0D8C-437989B3D7A6}"/>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solidFill>
                <a:schemeClr val="tx1"/>
              </a:solidFill>
            </a:endParaRPr>
          </a:p>
        </p:txBody>
      </p:sp>
      <p:sp>
        <p:nvSpPr>
          <p:cNvPr id="4" name="Content Placeholder 2">
            <a:extLst>
              <a:ext uri="{FF2B5EF4-FFF2-40B4-BE49-F238E27FC236}">
                <a16:creationId xmlns:a16="http://schemas.microsoft.com/office/drawing/2014/main" id="{30B28FDD-88B1-DF8F-6AF7-0E9A173C44FF}"/>
              </a:ext>
            </a:extLst>
          </p:cNvPr>
          <p:cNvSpPr>
            <a:spLocks noGrp="1"/>
          </p:cNvSpPr>
          <p:nvPr>
            <p:ph idx="1"/>
          </p:nvPr>
        </p:nvSpPr>
        <p:spPr>
          <a:xfrm>
            <a:off x="1243472" y="1806959"/>
            <a:ext cx="2990200" cy="385402"/>
          </a:xfrm>
        </p:spPr>
        <p:txBody>
          <a:bodyPr>
            <a:noAutofit/>
          </a:bodyPr>
          <a:lstStyle/>
          <a:p>
            <a:r>
              <a:rPr lang="en-US" sz="2400" b="1" dirty="0">
                <a:solidFill>
                  <a:schemeClr val="accent2"/>
                </a:solidFill>
              </a:rPr>
              <a:t>9. Highest priced room</a:t>
            </a:r>
            <a:endParaRPr lang="en-IN" sz="2400" dirty="0">
              <a:solidFill>
                <a:schemeClr val="tx1">
                  <a:lumMod val="50000"/>
                  <a:lumOff val="50000"/>
                </a:schemeClr>
              </a:solidFill>
            </a:endParaRPr>
          </a:p>
        </p:txBody>
      </p:sp>
      <p:pic>
        <p:nvPicPr>
          <p:cNvPr id="6" name="Picture 5">
            <a:extLst>
              <a:ext uri="{FF2B5EF4-FFF2-40B4-BE49-F238E27FC236}">
                <a16:creationId xmlns:a16="http://schemas.microsoft.com/office/drawing/2014/main" id="{E5F91CD8-A4E3-8BDE-3FF5-4C032570BD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3473" y="2344257"/>
            <a:ext cx="3237087" cy="901864"/>
          </a:xfrm>
          <a:prstGeom prst="rect">
            <a:avLst/>
          </a:prstGeom>
        </p:spPr>
      </p:pic>
      <p:pic>
        <p:nvPicPr>
          <p:cNvPr id="8" name="Picture 7">
            <a:extLst>
              <a:ext uri="{FF2B5EF4-FFF2-40B4-BE49-F238E27FC236}">
                <a16:creationId xmlns:a16="http://schemas.microsoft.com/office/drawing/2014/main" id="{E13B8E5D-8AB9-67B3-998D-8584597F53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1681" y="1950993"/>
            <a:ext cx="2476846" cy="786528"/>
          </a:xfrm>
          <a:prstGeom prst="rect">
            <a:avLst/>
          </a:prstGeom>
        </p:spPr>
      </p:pic>
      <p:sp>
        <p:nvSpPr>
          <p:cNvPr id="9" name="Arrow: Right 8">
            <a:extLst>
              <a:ext uri="{FF2B5EF4-FFF2-40B4-BE49-F238E27FC236}">
                <a16:creationId xmlns:a16="http://schemas.microsoft.com/office/drawing/2014/main" id="{200EF799-C241-39AF-4FC6-615128179F1B}"/>
              </a:ext>
            </a:extLst>
          </p:cNvPr>
          <p:cNvSpPr/>
          <p:nvPr/>
        </p:nvSpPr>
        <p:spPr>
          <a:xfrm>
            <a:off x="5555301" y="1999660"/>
            <a:ext cx="1594751" cy="5367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AFB31AC4-119B-6331-E960-49319F22DD3B}"/>
              </a:ext>
            </a:extLst>
          </p:cNvPr>
          <p:cNvSpPr/>
          <p:nvPr/>
        </p:nvSpPr>
        <p:spPr>
          <a:xfrm>
            <a:off x="3169042" y="3167304"/>
            <a:ext cx="6578462"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DC4AF0E-1950-2AF3-C46B-8BD8B6331385}"/>
              </a:ext>
            </a:extLst>
          </p:cNvPr>
          <p:cNvSpPr txBox="1"/>
          <p:nvPr/>
        </p:nvSpPr>
        <p:spPr>
          <a:xfrm>
            <a:off x="3169042" y="3255618"/>
            <a:ext cx="6767438"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Shows the room with the highest price per night.</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identify premium rooms for marketing or special bookings.</a:t>
            </a:r>
            <a:endParaRPr lang="en-IN" dirty="0">
              <a:solidFill>
                <a:schemeClr val="tx1">
                  <a:lumMod val="50000"/>
                  <a:lumOff val="50000"/>
                </a:schemeClr>
              </a:solidFill>
            </a:endParaRPr>
          </a:p>
        </p:txBody>
      </p:sp>
      <p:cxnSp>
        <p:nvCxnSpPr>
          <p:cNvPr id="12" name="Straight Connector 11">
            <a:extLst>
              <a:ext uri="{FF2B5EF4-FFF2-40B4-BE49-F238E27FC236}">
                <a16:creationId xmlns:a16="http://schemas.microsoft.com/office/drawing/2014/main" id="{C85F5FA0-7B49-C806-E146-69979E3E1DEB}"/>
              </a:ext>
            </a:extLst>
          </p:cNvPr>
          <p:cNvCxnSpPr>
            <a:cxnSpLocks/>
          </p:cNvCxnSpPr>
          <p:nvPr/>
        </p:nvCxnSpPr>
        <p:spPr>
          <a:xfrm>
            <a:off x="1226681" y="4123944"/>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9DEEC6DA-E844-595D-5F87-26F280187ADF}"/>
              </a:ext>
            </a:extLst>
          </p:cNvPr>
          <p:cNvSpPr txBox="1">
            <a:spLocks/>
          </p:cNvSpPr>
          <p:nvPr/>
        </p:nvSpPr>
        <p:spPr>
          <a:xfrm>
            <a:off x="1226680" y="4233672"/>
            <a:ext cx="4869319"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solidFill>
                  <a:schemeClr val="accent2"/>
                </a:solidFill>
              </a:rPr>
              <a:t>10. Reservations count per room type</a:t>
            </a:r>
            <a:endParaRPr lang="en-IN" sz="2400" dirty="0">
              <a:solidFill>
                <a:schemeClr val="tx1">
                  <a:lumMod val="50000"/>
                  <a:lumOff val="50000"/>
                </a:schemeClr>
              </a:solidFill>
            </a:endParaRPr>
          </a:p>
        </p:txBody>
      </p:sp>
      <p:pic>
        <p:nvPicPr>
          <p:cNvPr id="15" name="Picture 14">
            <a:extLst>
              <a:ext uri="{FF2B5EF4-FFF2-40B4-BE49-F238E27FC236}">
                <a16:creationId xmlns:a16="http://schemas.microsoft.com/office/drawing/2014/main" id="{6454E7FC-9D82-806A-C0E4-4DE5968C81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8368" y="4728801"/>
            <a:ext cx="5044308" cy="969179"/>
          </a:xfrm>
          <a:prstGeom prst="rect">
            <a:avLst/>
          </a:prstGeom>
        </p:spPr>
      </p:pic>
      <p:pic>
        <p:nvPicPr>
          <p:cNvPr id="17" name="Picture 16">
            <a:extLst>
              <a:ext uri="{FF2B5EF4-FFF2-40B4-BE49-F238E27FC236}">
                <a16:creationId xmlns:a16="http://schemas.microsoft.com/office/drawing/2014/main" id="{15DDDE23-1D6F-0C63-459C-32C6D20BDD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78993" y="4336968"/>
            <a:ext cx="1876687" cy="876422"/>
          </a:xfrm>
          <a:prstGeom prst="rect">
            <a:avLst/>
          </a:prstGeom>
        </p:spPr>
      </p:pic>
      <p:sp>
        <p:nvSpPr>
          <p:cNvPr id="18" name="Arrow: Right 17">
            <a:extLst>
              <a:ext uri="{FF2B5EF4-FFF2-40B4-BE49-F238E27FC236}">
                <a16:creationId xmlns:a16="http://schemas.microsoft.com/office/drawing/2014/main" id="{177BB840-F2F5-30E7-4E85-5D67F46E5079}"/>
              </a:ext>
            </a:extLst>
          </p:cNvPr>
          <p:cNvSpPr/>
          <p:nvPr/>
        </p:nvSpPr>
        <p:spPr>
          <a:xfrm>
            <a:off x="7018459" y="4508361"/>
            <a:ext cx="1594751" cy="5367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BDB49C87-9345-B6EC-A777-4CCF964510EB}"/>
              </a:ext>
            </a:extLst>
          </p:cNvPr>
          <p:cNvSpPr/>
          <p:nvPr/>
        </p:nvSpPr>
        <p:spPr>
          <a:xfrm>
            <a:off x="5212080" y="5296039"/>
            <a:ext cx="5943600" cy="7594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A6A1543C-135D-EB7B-88FE-EBA28ECE1FD1}"/>
              </a:ext>
            </a:extLst>
          </p:cNvPr>
          <p:cNvSpPr txBox="1"/>
          <p:nvPr/>
        </p:nvSpPr>
        <p:spPr>
          <a:xfrm>
            <a:off x="5229491" y="5374814"/>
            <a:ext cx="6483973" cy="615553"/>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700" dirty="0">
                <a:solidFill>
                  <a:schemeClr val="tx1">
                    <a:lumMod val="50000"/>
                    <a:lumOff val="50000"/>
                  </a:schemeClr>
                </a:solidFill>
              </a:rPr>
              <a:t>Shows how many reservations were made for each room type.</a:t>
            </a:r>
          </a:p>
          <a:p>
            <a:pPr marL="285750" indent="-285750">
              <a:buClr>
                <a:schemeClr val="accent1"/>
              </a:buClr>
              <a:buFont typeface="Arial" panose="020B0604020202020204" pitchFamily="34" charset="0"/>
              <a:buChar char="•"/>
            </a:pPr>
            <a:r>
              <a:rPr lang="en-US" sz="1700" dirty="0">
                <a:solidFill>
                  <a:schemeClr val="tx1">
                    <a:lumMod val="50000"/>
                    <a:lumOff val="50000"/>
                  </a:schemeClr>
                </a:solidFill>
              </a:rPr>
              <a:t>Helps identify the most and least popular room categories.</a:t>
            </a:r>
            <a:endParaRPr lang="en-IN" sz="1700" dirty="0">
              <a:solidFill>
                <a:schemeClr val="tx1">
                  <a:lumMod val="50000"/>
                  <a:lumOff val="50000"/>
                </a:schemeClr>
              </a:solidFill>
            </a:endParaRPr>
          </a:p>
        </p:txBody>
      </p:sp>
    </p:spTree>
    <p:extLst>
      <p:ext uri="{BB962C8B-B14F-4D97-AF65-F5344CB8AC3E}">
        <p14:creationId xmlns:p14="http://schemas.microsoft.com/office/powerpoint/2010/main" val="3956406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C4D6E-848E-DFDF-A66E-9999B40F33AB}"/>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solidFill>
                <a:schemeClr val="tx1"/>
              </a:solidFill>
            </a:endParaRPr>
          </a:p>
        </p:txBody>
      </p:sp>
      <p:sp>
        <p:nvSpPr>
          <p:cNvPr id="4" name="Content Placeholder 2">
            <a:extLst>
              <a:ext uri="{FF2B5EF4-FFF2-40B4-BE49-F238E27FC236}">
                <a16:creationId xmlns:a16="http://schemas.microsoft.com/office/drawing/2014/main" id="{F6FA499C-9AE0-212F-EA92-2EC962533CFA}"/>
              </a:ext>
            </a:extLst>
          </p:cNvPr>
          <p:cNvSpPr>
            <a:spLocks noGrp="1"/>
          </p:cNvSpPr>
          <p:nvPr>
            <p:ph idx="1"/>
          </p:nvPr>
        </p:nvSpPr>
        <p:spPr>
          <a:xfrm>
            <a:off x="1243472" y="1806959"/>
            <a:ext cx="4188064" cy="385402"/>
          </a:xfrm>
        </p:spPr>
        <p:txBody>
          <a:bodyPr>
            <a:noAutofit/>
          </a:bodyPr>
          <a:lstStyle/>
          <a:p>
            <a:r>
              <a:rPr lang="en-US" sz="2400" b="1" dirty="0">
                <a:solidFill>
                  <a:schemeClr val="accent2"/>
                </a:solidFill>
              </a:rPr>
              <a:t>11. Guests who made payments</a:t>
            </a:r>
            <a:endParaRPr lang="en-IN" sz="2400" dirty="0">
              <a:solidFill>
                <a:schemeClr val="tx1">
                  <a:lumMod val="50000"/>
                  <a:lumOff val="50000"/>
                </a:schemeClr>
              </a:solidFill>
            </a:endParaRPr>
          </a:p>
        </p:txBody>
      </p:sp>
      <p:pic>
        <p:nvPicPr>
          <p:cNvPr id="6" name="Picture 5">
            <a:extLst>
              <a:ext uri="{FF2B5EF4-FFF2-40B4-BE49-F238E27FC236}">
                <a16:creationId xmlns:a16="http://schemas.microsoft.com/office/drawing/2014/main" id="{3A7EE8F1-95FC-100C-C241-9BF0567C7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3472" y="2314108"/>
            <a:ext cx="5296135" cy="1069172"/>
          </a:xfrm>
          <a:prstGeom prst="rect">
            <a:avLst/>
          </a:prstGeom>
        </p:spPr>
      </p:pic>
      <p:sp>
        <p:nvSpPr>
          <p:cNvPr id="9" name="Arrow: Right 8">
            <a:extLst>
              <a:ext uri="{FF2B5EF4-FFF2-40B4-BE49-F238E27FC236}">
                <a16:creationId xmlns:a16="http://schemas.microsoft.com/office/drawing/2014/main" id="{D60BD9F4-7513-C9D4-CC8D-4837866EDC40}"/>
              </a:ext>
            </a:extLst>
          </p:cNvPr>
          <p:cNvSpPr/>
          <p:nvPr/>
        </p:nvSpPr>
        <p:spPr>
          <a:xfrm>
            <a:off x="7119659" y="2231426"/>
            <a:ext cx="1263426"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7593487-2FF5-6653-B5FA-6A5DD4B5A98C}"/>
              </a:ext>
            </a:extLst>
          </p:cNvPr>
          <p:cNvSpPr/>
          <p:nvPr/>
        </p:nvSpPr>
        <p:spPr>
          <a:xfrm>
            <a:off x="2806768" y="3434734"/>
            <a:ext cx="6858439"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C664A46D-5CCC-B352-5B37-8285FC31C1CB}"/>
              </a:ext>
            </a:extLst>
          </p:cNvPr>
          <p:cNvSpPr txBox="1"/>
          <p:nvPr/>
        </p:nvSpPr>
        <p:spPr>
          <a:xfrm>
            <a:off x="2919545" y="3523048"/>
            <a:ext cx="6745663"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Identifies guests who have successfully made payments.</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distinguish paying guests for financial tracking and reporting.</a:t>
            </a:r>
          </a:p>
        </p:txBody>
      </p:sp>
      <p:cxnSp>
        <p:nvCxnSpPr>
          <p:cNvPr id="12" name="Straight Connector 11">
            <a:extLst>
              <a:ext uri="{FF2B5EF4-FFF2-40B4-BE49-F238E27FC236}">
                <a16:creationId xmlns:a16="http://schemas.microsoft.com/office/drawing/2014/main" id="{ED1790AA-B834-E4CA-6B54-E59A9C19A3C8}"/>
              </a:ext>
            </a:extLst>
          </p:cNvPr>
          <p:cNvCxnSpPr>
            <a:cxnSpLocks/>
          </p:cNvCxnSpPr>
          <p:nvPr/>
        </p:nvCxnSpPr>
        <p:spPr>
          <a:xfrm>
            <a:off x="1226681" y="4407408"/>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00688FEB-3E2B-73E1-F12E-F222E5B25B25}"/>
              </a:ext>
            </a:extLst>
          </p:cNvPr>
          <p:cNvSpPr txBox="1">
            <a:spLocks/>
          </p:cNvSpPr>
          <p:nvPr/>
        </p:nvSpPr>
        <p:spPr>
          <a:xfrm>
            <a:off x="1243472" y="4484380"/>
            <a:ext cx="4188064"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solidFill>
                  <a:schemeClr val="accent2"/>
                </a:solidFill>
              </a:rPr>
              <a:t>12. Occupancy rate of hotel </a:t>
            </a:r>
            <a:endParaRPr lang="en-IN" sz="2400" dirty="0">
              <a:solidFill>
                <a:schemeClr val="tx1">
                  <a:lumMod val="50000"/>
                  <a:lumOff val="50000"/>
                </a:schemeClr>
              </a:solidFill>
            </a:endParaRPr>
          </a:p>
        </p:txBody>
      </p:sp>
      <p:pic>
        <p:nvPicPr>
          <p:cNvPr id="15" name="Picture 14">
            <a:extLst>
              <a:ext uri="{FF2B5EF4-FFF2-40B4-BE49-F238E27FC236}">
                <a16:creationId xmlns:a16="http://schemas.microsoft.com/office/drawing/2014/main" id="{D5932E10-E724-E132-69CA-8B2811788A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3729" y="1950565"/>
            <a:ext cx="1901952" cy="911506"/>
          </a:xfrm>
          <a:prstGeom prst="rect">
            <a:avLst/>
          </a:prstGeom>
        </p:spPr>
      </p:pic>
      <p:pic>
        <p:nvPicPr>
          <p:cNvPr id="19" name="Picture 18">
            <a:extLst>
              <a:ext uri="{FF2B5EF4-FFF2-40B4-BE49-F238E27FC236}">
                <a16:creationId xmlns:a16="http://schemas.microsoft.com/office/drawing/2014/main" id="{24BF77E9-0BC8-E33B-101C-5CA34A6831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8978" y="4869782"/>
            <a:ext cx="5892978" cy="838317"/>
          </a:xfrm>
          <a:prstGeom prst="rect">
            <a:avLst/>
          </a:prstGeom>
        </p:spPr>
      </p:pic>
      <p:pic>
        <p:nvPicPr>
          <p:cNvPr id="21" name="Picture 20">
            <a:extLst>
              <a:ext uri="{FF2B5EF4-FFF2-40B4-BE49-F238E27FC236}">
                <a16:creationId xmlns:a16="http://schemas.microsoft.com/office/drawing/2014/main" id="{3823B9C8-6188-4B27-55F5-79B25AB214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53729" y="4648373"/>
            <a:ext cx="1703556" cy="636383"/>
          </a:xfrm>
          <a:prstGeom prst="rect">
            <a:avLst/>
          </a:prstGeom>
        </p:spPr>
      </p:pic>
      <p:sp>
        <p:nvSpPr>
          <p:cNvPr id="22" name="Arrow: Right 21">
            <a:extLst>
              <a:ext uri="{FF2B5EF4-FFF2-40B4-BE49-F238E27FC236}">
                <a16:creationId xmlns:a16="http://schemas.microsoft.com/office/drawing/2014/main" id="{D2040E36-8784-5F8D-B6E9-0FBBC37E4C04}"/>
              </a:ext>
            </a:extLst>
          </p:cNvPr>
          <p:cNvSpPr/>
          <p:nvPr/>
        </p:nvSpPr>
        <p:spPr>
          <a:xfrm>
            <a:off x="7483309" y="4711984"/>
            <a:ext cx="1263426"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0A038E19-D6BD-8B21-6BE9-76A49ED7F1E3}"/>
              </a:ext>
            </a:extLst>
          </p:cNvPr>
          <p:cNvSpPr/>
          <p:nvPr/>
        </p:nvSpPr>
        <p:spPr>
          <a:xfrm>
            <a:off x="4255467" y="5431537"/>
            <a:ext cx="6858439" cy="78297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ECED58F2-1D33-E975-9022-833B61A3D8CB}"/>
              </a:ext>
            </a:extLst>
          </p:cNvPr>
          <p:cNvSpPr txBox="1"/>
          <p:nvPr/>
        </p:nvSpPr>
        <p:spPr>
          <a:xfrm>
            <a:off x="4311854" y="5499858"/>
            <a:ext cx="6745663"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Shows the percentage of rooms currently occupied in the hotel.</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evaluate room utilization and overall hotel performance.</a:t>
            </a:r>
          </a:p>
        </p:txBody>
      </p:sp>
    </p:spTree>
    <p:extLst>
      <p:ext uri="{BB962C8B-B14F-4D97-AF65-F5344CB8AC3E}">
        <p14:creationId xmlns:p14="http://schemas.microsoft.com/office/powerpoint/2010/main" val="362675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A6279-29BE-7787-A160-CBF89E37B407}"/>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solidFill>
                <a:schemeClr val="tx1"/>
              </a:solidFill>
            </a:endParaRPr>
          </a:p>
        </p:txBody>
      </p:sp>
      <p:sp>
        <p:nvSpPr>
          <p:cNvPr id="6" name="Content Placeholder 2">
            <a:extLst>
              <a:ext uri="{FF2B5EF4-FFF2-40B4-BE49-F238E27FC236}">
                <a16:creationId xmlns:a16="http://schemas.microsoft.com/office/drawing/2014/main" id="{C3A0B92C-A3E1-131A-F797-EB9EE175E659}"/>
              </a:ext>
            </a:extLst>
          </p:cNvPr>
          <p:cNvSpPr>
            <a:spLocks noGrp="1"/>
          </p:cNvSpPr>
          <p:nvPr>
            <p:ph idx="1"/>
          </p:nvPr>
        </p:nvSpPr>
        <p:spPr>
          <a:xfrm>
            <a:off x="1243472" y="1806959"/>
            <a:ext cx="3520552" cy="385402"/>
          </a:xfrm>
        </p:spPr>
        <p:txBody>
          <a:bodyPr>
            <a:noAutofit/>
          </a:bodyPr>
          <a:lstStyle/>
          <a:p>
            <a:r>
              <a:rPr lang="en-US" sz="2400" b="1" dirty="0">
                <a:solidFill>
                  <a:schemeClr val="accent2"/>
                </a:solidFill>
              </a:rPr>
              <a:t>13. Revenue by room type</a:t>
            </a:r>
            <a:endParaRPr lang="en-IN" sz="2400" dirty="0">
              <a:solidFill>
                <a:schemeClr val="tx1">
                  <a:lumMod val="50000"/>
                  <a:lumOff val="50000"/>
                </a:schemeClr>
              </a:solidFill>
            </a:endParaRPr>
          </a:p>
        </p:txBody>
      </p:sp>
      <p:pic>
        <p:nvPicPr>
          <p:cNvPr id="8" name="Picture 7">
            <a:extLst>
              <a:ext uri="{FF2B5EF4-FFF2-40B4-BE49-F238E27FC236}">
                <a16:creationId xmlns:a16="http://schemas.microsoft.com/office/drawing/2014/main" id="{B2752342-1285-F0D5-6D49-7200DEC04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8204" y="2261960"/>
            <a:ext cx="4614540" cy="1110002"/>
          </a:xfrm>
          <a:prstGeom prst="rect">
            <a:avLst/>
          </a:prstGeom>
        </p:spPr>
      </p:pic>
      <p:pic>
        <p:nvPicPr>
          <p:cNvPr id="10" name="Picture 9">
            <a:extLst>
              <a:ext uri="{FF2B5EF4-FFF2-40B4-BE49-F238E27FC236}">
                <a16:creationId xmlns:a16="http://schemas.microsoft.com/office/drawing/2014/main" id="{0E3F209B-49AA-2D44-7ACD-D2FFF6B34F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7939" y="1899753"/>
            <a:ext cx="2447741" cy="907455"/>
          </a:xfrm>
          <a:prstGeom prst="rect">
            <a:avLst/>
          </a:prstGeom>
        </p:spPr>
      </p:pic>
      <p:sp>
        <p:nvSpPr>
          <p:cNvPr id="11" name="Arrow: Right 10">
            <a:extLst>
              <a:ext uri="{FF2B5EF4-FFF2-40B4-BE49-F238E27FC236}">
                <a16:creationId xmlns:a16="http://schemas.microsoft.com/office/drawing/2014/main" id="{41E4AEF9-9AC8-9C77-AC32-37B540CF9FBF}"/>
              </a:ext>
            </a:extLst>
          </p:cNvPr>
          <p:cNvSpPr/>
          <p:nvPr/>
        </p:nvSpPr>
        <p:spPr>
          <a:xfrm>
            <a:off x="6698628" y="2087969"/>
            <a:ext cx="1263426"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FAE4DAD-03D0-F319-0CBF-D91DF0266AB3}"/>
              </a:ext>
            </a:extLst>
          </p:cNvPr>
          <p:cNvSpPr txBox="1"/>
          <p:nvPr/>
        </p:nvSpPr>
        <p:spPr>
          <a:xfrm>
            <a:off x="3440753" y="3388099"/>
            <a:ext cx="6745663"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Shows how much revenue is generated by each room type.</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identify the most profitable room categories.</a:t>
            </a:r>
          </a:p>
        </p:txBody>
      </p:sp>
      <p:sp>
        <p:nvSpPr>
          <p:cNvPr id="14" name="Rectangle 13">
            <a:extLst>
              <a:ext uri="{FF2B5EF4-FFF2-40B4-BE49-F238E27FC236}">
                <a16:creationId xmlns:a16="http://schemas.microsoft.com/office/drawing/2014/main" id="{B2CCC36E-DB10-A3A3-3BFA-46ACA2F9675D}"/>
              </a:ext>
            </a:extLst>
          </p:cNvPr>
          <p:cNvSpPr/>
          <p:nvPr/>
        </p:nvSpPr>
        <p:spPr>
          <a:xfrm>
            <a:off x="3346265" y="3299784"/>
            <a:ext cx="6245792"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1039D6DE-8A55-E3D8-4B36-0A475C2CF705}"/>
              </a:ext>
            </a:extLst>
          </p:cNvPr>
          <p:cNvCxnSpPr>
            <a:cxnSpLocks/>
          </p:cNvCxnSpPr>
          <p:nvPr/>
        </p:nvCxnSpPr>
        <p:spPr>
          <a:xfrm>
            <a:off x="1226681" y="4288536"/>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C920E13A-40FC-A3B4-27AA-0D294FA73893}"/>
              </a:ext>
            </a:extLst>
          </p:cNvPr>
          <p:cNvSpPr txBox="1">
            <a:spLocks/>
          </p:cNvSpPr>
          <p:nvPr/>
        </p:nvSpPr>
        <p:spPr>
          <a:xfrm>
            <a:off x="1243472" y="4376850"/>
            <a:ext cx="3273664"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solidFill>
                  <a:schemeClr val="accent2"/>
                </a:solidFill>
              </a:rPr>
              <a:t>14. Highest paying guest</a:t>
            </a:r>
            <a:endParaRPr lang="en-IN" sz="2400" dirty="0">
              <a:solidFill>
                <a:schemeClr val="tx1">
                  <a:lumMod val="50000"/>
                  <a:lumOff val="50000"/>
                </a:schemeClr>
              </a:solidFill>
            </a:endParaRPr>
          </a:p>
        </p:txBody>
      </p:sp>
      <p:pic>
        <p:nvPicPr>
          <p:cNvPr id="18" name="Picture 17">
            <a:extLst>
              <a:ext uri="{FF2B5EF4-FFF2-40B4-BE49-F238E27FC236}">
                <a16:creationId xmlns:a16="http://schemas.microsoft.com/office/drawing/2014/main" id="{2E6B71CB-62D1-8B20-B81A-6106FD8D90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8204" y="4856745"/>
            <a:ext cx="4541388" cy="1273860"/>
          </a:xfrm>
          <a:prstGeom prst="rect">
            <a:avLst/>
          </a:prstGeom>
        </p:spPr>
      </p:pic>
      <p:pic>
        <p:nvPicPr>
          <p:cNvPr id="20" name="Picture 19">
            <a:extLst>
              <a:ext uri="{FF2B5EF4-FFF2-40B4-BE49-F238E27FC236}">
                <a16:creationId xmlns:a16="http://schemas.microsoft.com/office/drawing/2014/main" id="{38058650-9742-FF6F-AB3D-A0C1F009FE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07938" y="4454329"/>
            <a:ext cx="2447741" cy="885767"/>
          </a:xfrm>
          <a:prstGeom prst="rect">
            <a:avLst/>
          </a:prstGeom>
        </p:spPr>
      </p:pic>
      <p:sp>
        <p:nvSpPr>
          <p:cNvPr id="21" name="Arrow: Right 20">
            <a:extLst>
              <a:ext uri="{FF2B5EF4-FFF2-40B4-BE49-F238E27FC236}">
                <a16:creationId xmlns:a16="http://schemas.microsoft.com/office/drawing/2014/main" id="{CACA6038-529C-8E9D-A8B2-D0476A3FDEAD}"/>
              </a:ext>
            </a:extLst>
          </p:cNvPr>
          <p:cNvSpPr/>
          <p:nvPr/>
        </p:nvSpPr>
        <p:spPr>
          <a:xfrm>
            <a:off x="6698628" y="4674089"/>
            <a:ext cx="1263426"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79E85B4-2B26-328D-29AA-BCF795D0C704}"/>
              </a:ext>
            </a:extLst>
          </p:cNvPr>
          <p:cNvSpPr txBox="1"/>
          <p:nvPr/>
        </p:nvSpPr>
        <p:spPr>
          <a:xfrm>
            <a:off x="4589848" y="5564520"/>
            <a:ext cx="6745663"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Identifies the guest who has paid the highest total amount.</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recognize high-value guests for loyalty or premium services.</a:t>
            </a:r>
          </a:p>
        </p:txBody>
      </p:sp>
      <p:sp>
        <p:nvSpPr>
          <p:cNvPr id="23" name="Rectangle 22">
            <a:extLst>
              <a:ext uri="{FF2B5EF4-FFF2-40B4-BE49-F238E27FC236}">
                <a16:creationId xmlns:a16="http://schemas.microsoft.com/office/drawing/2014/main" id="{CA027CC3-018C-92D6-D026-01C30AAFD2B1}"/>
              </a:ext>
            </a:extLst>
          </p:cNvPr>
          <p:cNvSpPr/>
          <p:nvPr/>
        </p:nvSpPr>
        <p:spPr>
          <a:xfrm>
            <a:off x="4589848" y="5468137"/>
            <a:ext cx="6565831"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342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EFA85-5C9C-9575-975A-267E1329BA62}"/>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p>
        </p:txBody>
      </p:sp>
      <p:sp>
        <p:nvSpPr>
          <p:cNvPr id="4" name="Content Placeholder 2">
            <a:extLst>
              <a:ext uri="{FF2B5EF4-FFF2-40B4-BE49-F238E27FC236}">
                <a16:creationId xmlns:a16="http://schemas.microsoft.com/office/drawing/2014/main" id="{FEB5FB94-6966-1661-ADB6-5D90E0F6197C}"/>
              </a:ext>
            </a:extLst>
          </p:cNvPr>
          <p:cNvSpPr>
            <a:spLocks noGrp="1"/>
          </p:cNvSpPr>
          <p:nvPr>
            <p:ph idx="1"/>
          </p:nvPr>
        </p:nvSpPr>
        <p:spPr>
          <a:xfrm>
            <a:off x="1243472" y="1806959"/>
            <a:ext cx="4645264" cy="385402"/>
          </a:xfrm>
        </p:spPr>
        <p:txBody>
          <a:bodyPr>
            <a:noAutofit/>
          </a:bodyPr>
          <a:lstStyle/>
          <a:p>
            <a:r>
              <a:rPr lang="en-US" sz="2400" b="1" dirty="0">
                <a:solidFill>
                  <a:schemeClr val="accent2"/>
                </a:solidFill>
              </a:rPr>
              <a:t>15. Guests staying more than 2 days</a:t>
            </a:r>
            <a:endParaRPr lang="en-IN" sz="2400" dirty="0">
              <a:solidFill>
                <a:schemeClr val="tx1">
                  <a:lumMod val="50000"/>
                  <a:lumOff val="50000"/>
                </a:schemeClr>
              </a:solidFill>
            </a:endParaRPr>
          </a:p>
        </p:txBody>
      </p:sp>
      <p:pic>
        <p:nvPicPr>
          <p:cNvPr id="6" name="Picture 5">
            <a:extLst>
              <a:ext uri="{FF2B5EF4-FFF2-40B4-BE49-F238E27FC236}">
                <a16:creationId xmlns:a16="http://schemas.microsoft.com/office/drawing/2014/main" id="{CDB34753-4E71-220A-853E-7F85F354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067" y="2238081"/>
            <a:ext cx="4228341" cy="1192422"/>
          </a:xfrm>
          <a:prstGeom prst="rect">
            <a:avLst/>
          </a:prstGeom>
        </p:spPr>
      </p:pic>
      <p:pic>
        <p:nvPicPr>
          <p:cNvPr id="8" name="Picture 7">
            <a:extLst>
              <a:ext uri="{FF2B5EF4-FFF2-40B4-BE49-F238E27FC236}">
                <a16:creationId xmlns:a16="http://schemas.microsoft.com/office/drawing/2014/main" id="{5F34C7D3-5D8C-4CCF-C351-980AC44C2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237" y="1932694"/>
            <a:ext cx="2416443" cy="765389"/>
          </a:xfrm>
          <a:prstGeom prst="rect">
            <a:avLst/>
          </a:prstGeom>
        </p:spPr>
      </p:pic>
      <p:sp>
        <p:nvSpPr>
          <p:cNvPr id="9" name="Rectangle 8">
            <a:extLst>
              <a:ext uri="{FF2B5EF4-FFF2-40B4-BE49-F238E27FC236}">
                <a16:creationId xmlns:a16="http://schemas.microsoft.com/office/drawing/2014/main" id="{E9D3969D-9518-3C25-B523-2439959FE11A}"/>
              </a:ext>
            </a:extLst>
          </p:cNvPr>
          <p:cNvSpPr/>
          <p:nvPr/>
        </p:nvSpPr>
        <p:spPr>
          <a:xfrm>
            <a:off x="2973104" y="3473218"/>
            <a:ext cx="6245792"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059C9518-C888-9AF0-BE21-1392DD1705C9}"/>
              </a:ext>
            </a:extLst>
          </p:cNvPr>
          <p:cNvSpPr/>
          <p:nvPr/>
        </p:nvSpPr>
        <p:spPr>
          <a:xfrm>
            <a:off x="6432881" y="2157314"/>
            <a:ext cx="1423883"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F3C69EF-257F-7D64-2C5B-190DB16BF557}"/>
              </a:ext>
            </a:extLst>
          </p:cNvPr>
          <p:cNvSpPr txBox="1"/>
          <p:nvPr/>
        </p:nvSpPr>
        <p:spPr>
          <a:xfrm>
            <a:off x="2973104" y="3559307"/>
            <a:ext cx="6426927"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Identifies guests who stayed for more than two days.</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analyze long-stay guests for targeted offers or discounts.</a:t>
            </a:r>
          </a:p>
        </p:txBody>
      </p:sp>
      <p:cxnSp>
        <p:nvCxnSpPr>
          <p:cNvPr id="12" name="Straight Connector 11">
            <a:extLst>
              <a:ext uri="{FF2B5EF4-FFF2-40B4-BE49-F238E27FC236}">
                <a16:creationId xmlns:a16="http://schemas.microsoft.com/office/drawing/2014/main" id="{10FF7C3C-9AFE-01E0-1633-F506F27816E1}"/>
              </a:ext>
            </a:extLst>
          </p:cNvPr>
          <p:cNvCxnSpPr>
            <a:cxnSpLocks/>
          </p:cNvCxnSpPr>
          <p:nvPr/>
        </p:nvCxnSpPr>
        <p:spPr>
          <a:xfrm>
            <a:off x="1226681" y="4480560"/>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0910D2D4-AABE-0E7F-6FF7-0FE8BB756584}"/>
              </a:ext>
            </a:extLst>
          </p:cNvPr>
          <p:cNvSpPr txBox="1">
            <a:spLocks/>
          </p:cNvSpPr>
          <p:nvPr/>
        </p:nvSpPr>
        <p:spPr>
          <a:xfrm>
            <a:off x="1226681" y="4550159"/>
            <a:ext cx="3272167"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solidFill>
                  <a:schemeClr val="accent2"/>
                </a:solidFill>
              </a:rPr>
              <a:t>16. Rooms never booked</a:t>
            </a:r>
            <a:endParaRPr lang="en-IN" sz="2400" dirty="0">
              <a:solidFill>
                <a:schemeClr val="tx1">
                  <a:lumMod val="50000"/>
                  <a:lumOff val="50000"/>
                </a:schemeClr>
              </a:solidFill>
            </a:endParaRPr>
          </a:p>
        </p:txBody>
      </p:sp>
      <p:pic>
        <p:nvPicPr>
          <p:cNvPr id="15" name="Picture 14">
            <a:extLst>
              <a:ext uri="{FF2B5EF4-FFF2-40B4-BE49-F238E27FC236}">
                <a16:creationId xmlns:a16="http://schemas.microsoft.com/office/drawing/2014/main" id="{4050AEFE-C3B7-4BF5-1C94-46A9D64363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2067" y="5016196"/>
            <a:ext cx="3615693" cy="531022"/>
          </a:xfrm>
          <a:prstGeom prst="rect">
            <a:avLst/>
          </a:prstGeom>
        </p:spPr>
      </p:pic>
      <p:sp>
        <p:nvSpPr>
          <p:cNvPr id="16" name="Arrow: Right 15">
            <a:extLst>
              <a:ext uri="{FF2B5EF4-FFF2-40B4-BE49-F238E27FC236}">
                <a16:creationId xmlns:a16="http://schemas.microsoft.com/office/drawing/2014/main" id="{95B7C361-814C-FB98-8B82-A51441CAF104}"/>
              </a:ext>
            </a:extLst>
          </p:cNvPr>
          <p:cNvSpPr/>
          <p:nvPr/>
        </p:nvSpPr>
        <p:spPr>
          <a:xfrm>
            <a:off x="6432880" y="4742860"/>
            <a:ext cx="1423883"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F8F74FCC-FCF4-A49E-62EE-5EC77B532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00617" y="4664943"/>
            <a:ext cx="1652444" cy="608939"/>
          </a:xfrm>
          <a:prstGeom prst="rect">
            <a:avLst/>
          </a:prstGeom>
        </p:spPr>
      </p:pic>
      <p:sp>
        <p:nvSpPr>
          <p:cNvPr id="19" name="Rectangle 18">
            <a:extLst>
              <a:ext uri="{FF2B5EF4-FFF2-40B4-BE49-F238E27FC236}">
                <a16:creationId xmlns:a16="http://schemas.microsoft.com/office/drawing/2014/main" id="{25FCACD8-7A1D-93D8-8A8A-8DAA2FD29640}"/>
              </a:ext>
            </a:extLst>
          </p:cNvPr>
          <p:cNvSpPr/>
          <p:nvPr/>
        </p:nvSpPr>
        <p:spPr>
          <a:xfrm>
            <a:off x="5017438" y="5342710"/>
            <a:ext cx="6135623"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0481FAC2-2775-E25F-2A52-D1447AD86B7B}"/>
              </a:ext>
            </a:extLst>
          </p:cNvPr>
          <p:cNvSpPr txBox="1"/>
          <p:nvPr/>
        </p:nvSpPr>
        <p:spPr>
          <a:xfrm>
            <a:off x="5017438" y="5410925"/>
            <a:ext cx="6135623" cy="615553"/>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700" dirty="0">
                <a:solidFill>
                  <a:schemeClr val="tx1">
                    <a:lumMod val="50000"/>
                    <a:lumOff val="50000"/>
                  </a:schemeClr>
                </a:solidFill>
              </a:rPr>
              <a:t>Identifies rooms that have never been booked.</a:t>
            </a:r>
          </a:p>
          <a:p>
            <a:pPr marL="285750" indent="-285750">
              <a:buClr>
                <a:schemeClr val="accent1"/>
              </a:buClr>
              <a:buFont typeface="Arial" panose="020B0604020202020204" pitchFamily="34" charset="0"/>
              <a:buChar char="•"/>
            </a:pPr>
            <a:r>
              <a:rPr lang="en-US" sz="1700" dirty="0">
                <a:solidFill>
                  <a:schemeClr val="tx1">
                    <a:lumMod val="50000"/>
                    <a:lumOff val="50000"/>
                  </a:schemeClr>
                </a:solidFill>
              </a:rPr>
              <a:t>Helps spot underutilized rooms for promotions or pricing review.</a:t>
            </a:r>
          </a:p>
        </p:txBody>
      </p:sp>
    </p:spTree>
    <p:extLst>
      <p:ext uri="{BB962C8B-B14F-4D97-AF65-F5344CB8AC3E}">
        <p14:creationId xmlns:p14="http://schemas.microsoft.com/office/powerpoint/2010/main" val="3356843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1958-6E56-F326-4FF7-6A6FC3BBEEE5}"/>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p>
        </p:txBody>
      </p:sp>
      <p:sp>
        <p:nvSpPr>
          <p:cNvPr id="4" name="Content Placeholder 2">
            <a:extLst>
              <a:ext uri="{FF2B5EF4-FFF2-40B4-BE49-F238E27FC236}">
                <a16:creationId xmlns:a16="http://schemas.microsoft.com/office/drawing/2014/main" id="{9B77F74D-78D7-0CC6-975E-DC673E099798}"/>
              </a:ext>
            </a:extLst>
          </p:cNvPr>
          <p:cNvSpPr>
            <a:spLocks noGrp="1"/>
          </p:cNvSpPr>
          <p:nvPr>
            <p:ph idx="1"/>
          </p:nvPr>
        </p:nvSpPr>
        <p:spPr>
          <a:xfrm>
            <a:off x="1243472" y="1806959"/>
            <a:ext cx="2679304" cy="385402"/>
          </a:xfrm>
        </p:spPr>
        <p:txBody>
          <a:bodyPr>
            <a:noAutofit/>
          </a:bodyPr>
          <a:lstStyle/>
          <a:p>
            <a:r>
              <a:rPr lang="en-US" sz="2400" b="1" dirty="0">
                <a:solidFill>
                  <a:schemeClr val="accent2"/>
                </a:solidFill>
              </a:rPr>
              <a:t>17. Total staff salary</a:t>
            </a:r>
            <a:endParaRPr lang="en-IN" sz="2400" dirty="0">
              <a:solidFill>
                <a:schemeClr val="tx1">
                  <a:lumMod val="50000"/>
                  <a:lumOff val="50000"/>
                </a:schemeClr>
              </a:solidFill>
            </a:endParaRPr>
          </a:p>
        </p:txBody>
      </p:sp>
      <p:pic>
        <p:nvPicPr>
          <p:cNvPr id="6" name="Picture 5">
            <a:extLst>
              <a:ext uri="{FF2B5EF4-FFF2-40B4-BE49-F238E27FC236}">
                <a16:creationId xmlns:a16="http://schemas.microsoft.com/office/drawing/2014/main" id="{28A947B5-4198-D3B0-D4DA-785B6588D9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7479" y="2261960"/>
            <a:ext cx="4124057" cy="316648"/>
          </a:xfrm>
          <a:prstGeom prst="rect">
            <a:avLst/>
          </a:prstGeom>
        </p:spPr>
      </p:pic>
      <p:pic>
        <p:nvPicPr>
          <p:cNvPr id="8" name="Picture 7">
            <a:extLst>
              <a:ext uri="{FF2B5EF4-FFF2-40B4-BE49-F238E27FC236}">
                <a16:creationId xmlns:a16="http://schemas.microsoft.com/office/drawing/2014/main" id="{B309CAD9-CAAE-3968-FDAA-EEDCCA2704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1976" y="1861822"/>
            <a:ext cx="2200658" cy="643633"/>
          </a:xfrm>
          <a:prstGeom prst="rect">
            <a:avLst/>
          </a:prstGeom>
        </p:spPr>
      </p:pic>
      <p:sp>
        <p:nvSpPr>
          <p:cNvPr id="9" name="Arrow: Right 8">
            <a:extLst>
              <a:ext uri="{FF2B5EF4-FFF2-40B4-BE49-F238E27FC236}">
                <a16:creationId xmlns:a16="http://schemas.microsoft.com/office/drawing/2014/main" id="{AC8036FA-1C62-EF6D-EBD1-F60AC8AD840B}"/>
              </a:ext>
            </a:extLst>
          </p:cNvPr>
          <p:cNvSpPr/>
          <p:nvPr/>
        </p:nvSpPr>
        <p:spPr>
          <a:xfrm>
            <a:off x="6772422" y="1953269"/>
            <a:ext cx="1423883"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9766D7D-3C56-ED04-5AFA-27E02AE7881F}"/>
              </a:ext>
            </a:extLst>
          </p:cNvPr>
          <p:cNvSpPr txBox="1"/>
          <p:nvPr/>
        </p:nvSpPr>
        <p:spPr>
          <a:xfrm>
            <a:off x="3130948" y="2774573"/>
            <a:ext cx="6426927"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Shows the total salary expense for all staff members.</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monitor payroll costs and manage the hotel budget.</a:t>
            </a:r>
          </a:p>
        </p:txBody>
      </p:sp>
      <p:sp>
        <p:nvSpPr>
          <p:cNvPr id="11" name="Rectangle 10">
            <a:extLst>
              <a:ext uri="{FF2B5EF4-FFF2-40B4-BE49-F238E27FC236}">
                <a16:creationId xmlns:a16="http://schemas.microsoft.com/office/drawing/2014/main" id="{D4F378A8-81A6-C032-5D71-8314F7F97441}"/>
              </a:ext>
            </a:extLst>
          </p:cNvPr>
          <p:cNvSpPr/>
          <p:nvPr/>
        </p:nvSpPr>
        <p:spPr>
          <a:xfrm>
            <a:off x="3130948" y="2680256"/>
            <a:ext cx="5930104"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5A7A3F59-4324-A451-DF05-3EF304219B23}"/>
              </a:ext>
            </a:extLst>
          </p:cNvPr>
          <p:cNvCxnSpPr>
            <a:cxnSpLocks/>
          </p:cNvCxnSpPr>
          <p:nvPr/>
        </p:nvCxnSpPr>
        <p:spPr>
          <a:xfrm>
            <a:off x="1226681" y="3712464"/>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A8BD99EE-B3B8-9429-E444-D188248F3DCC}"/>
              </a:ext>
            </a:extLst>
          </p:cNvPr>
          <p:cNvSpPr txBox="1">
            <a:spLocks/>
          </p:cNvSpPr>
          <p:nvPr/>
        </p:nvSpPr>
        <p:spPr>
          <a:xfrm>
            <a:off x="1243472" y="3785617"/>
            <a:ext cx="3968608"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solidFill>
                  <a:schemeClr val="accent2"/>
                </a:solidFill>
              </a:rPr>
              <a:t>18. Highest paid staff member</a:t>
            </a:r>
            <a:endParaRPr lang="en-IN" sz="2400" dirty="0">
              <a:solidFill>
                <a:schemeClr val="tx1">
                  <a:lumMod val="50000"/>
                  <a:lumOff val="50000"/>
                </a:schemeClr>
              </a:solidFill>
            </a:endParaRPr>
          </a:p>
        </p:txBody>
      </p:sp>
      <p:pic>
        <p:nvPicPr>
          <p:cNvPr id="15" name="Picture 14">
            <a:extLst>
              <a:ext uri="{FF2B5EF4-FFF2-40B4-BE49-F238E27FC236}">
                <a16:creationId xmlns:a16="http://schemas.microsoft.com/office/drawing/2014/main" id="{3337EAD2-0451-AF1E-5F02-D2F8CF69A9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7479" y="4244172"/>
            <a:ext cx="3282809" cy="1151836"/>
          </a:xfrm>
          <a:prstGeom prst="rect">
            <a:avLst/>
          </a:prstGeom>
        </p:spPr>
      </p:pic>
      <p:pic>
        <p:nvPicPr>
          <p:cNvPr id="18" name="Picture 17">
            <a:extLst>
              <a:ext uri="{FF2B5EF4-FFF2-40B4-BE49-F238E27FC236}">
                <a16:creationId xmlns:a16="http://schemas.microsoft.com/office/drawing/2014/main" id="{46CF04A6-8955-D0D1-C184-8FE31428D1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1975" y="3985736"/>
            <a:ext cx="1996553" cy="724487"/>
          </a:xfrm>
          <a:prstGeom prst="rect">
            <a:avLst/>
          </a:prstGeom>
        </p:spPr>
      </p:pic>
      <p:sp>
        <p:nvSpPr>
          <p:cNvPr id="19" name="Arrow: Right 18">
            <a:extLst>
              <a:ext uri="{FF2B5EF4-FFF2-40B4-BE49-F238E27FC236}">
                <a16:creationId xmlns:a16="http://schemas.microsoft.com/office/drawing/2014/main" id="{6516C70D-0F4A-645F-FAE5-21DDAC0408A6}"/>
              </a:ext>
            </a:extLst>
          </p:cNvPr>
          <p:cNvSpPr/>
          <p:nvPr/>
        </p:nvSpPr>
        <p:spPr>
          <a:xfrm>
            <a:off x="6772422" y="4045434"/>
            <a:ext cx="1423883"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793EF900-9053-905D-7982-411D91FD077B}"/>
              </a:ext>
            </a:extLst>
          </p:cNvPr>
          <p:cNvSpPr/>
          <p:nvPr/>
        </p:nvSpPr>
        <p:spPr>
          <a:xfrm>
            <a:off x="3102358" y="5232568"/>
            <a:ext cx="6177644"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F2CE44A6-C053-7443-EDFC-86321D96DEFD}"/>
              </a:ext>
            </a:extLst>
          </p:cNvPr>
          <p:cNvSpPr txBox="1"/>
          <p:nvPr/>
        </p:nvSpPr>
        <p:spPr>
          <a:xfrm>
            <a:off x="3130947" y="5314839"/>
            <a:ext cx="6426927"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Identifies the staff member with the highest salary.</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analyze salary distribution and compensation structure.</a:t>
            </a:r>
          </a:p>
        </p:txBody>
      </p:sp>
    </p:spTree>
    <p:extLst>
      <p:ext uri="{BB962C8B-B14F-4D97-AF65-F5344CB8AC3E}">
        <p14:creationId xmlns:p14="http://schemas.microsoft.com/office/powerpoint/2010/main" val="786519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BDD43-EE38-4789-665A-EA6A3C221605}"/>
              </a:ext>
            </a:extLst>
          </p:cNvPr>
          <p:cNvSpPr>
            <a:spLocks noGrp="1"/>
          </p:cNvSpPr>
          <p:nvPr>
            <p:ph type="title"/>
          </p:nvPr>
        </p:nvSpPr>
        <p:spPr/>
        <p:txBody>
          <a:bodyPr/>
          <a:lstStyle/>
          <a:p>
            <a:r>
              <a:rPr lang="en-IN" b="1" dirty="0">
                <a:solidFill>
                  <a:schemeClr val="tx1"/>
                </a:solidFill>
                <a:latin typeface="Century" panose="02040604050505020304" pitchFamily="18" charset="0"/>
              </a:rPr>
              <a:t>DATA EXTRACTION QUERIES</a:t>
            </a:r>
            <a:endParaRPr lang="en-IN" dirty="0"/>
          </a:p>
        </p:txBody>
      </p:sp>
      <p:sp>
        <p:nvSpPr>
          <p:cNvPr id="4" name="Content Placeholder 2">
            <a:extLst>
              <a:ext uri="{FF2B5EF4-FFF2-40B4-BE49-F238E27FC236}">
                <a16:creationId xmlns:a16="http://schemas.microsoft.com/office/drawing/2014/main" id="{E8EFF97D-E59B-68A3-3FD7-F1F27459B9EC}"/>
              </a:ext>
            </a:extLst>
          </p:cNvPr>
          <p:cNvSpPr>
            <a:spLocks noGrp="1"/>
          </p:cNvSpPr>
          <p:nvPr>
            <p:ph idx="1"/>
          </p:nvPr>
        </p:nvSpPr>
        <p:spPr>
          <a:xfrm>
            <a:off x="1243472" y="1799456"/>
            <a:ext cx="3941176" cy="385402"/>
          </a:xfrm>
        </p:spPr>
        <p:txBody>
          <a:bodyPr>
            <a:noAutofit/>
          </a:bodyPr>
          <a:lstStyle/>
          <a:p>
            <a:r>
              <a:rPr lang="en-US" sz="2400" b="1" dirty="0">
                <a:solidFill>
                  <a:schemeClr val="accent2"/>
                </a:solidFill>
              </a:rPr>
              <a:t>19. Number of stays per guest</a:t>
            </a:r>
            <a:endParaRPr lang="en-IN" sz="2400" dirty="0">
              <a:solidFill>
                <a:schemeClr val="tx1">
                  <a:lumMod val="50000"/>
                  <a:lumOff val="50000"/>
                </a:schemeClr>
              </a:solidFill>
            </a:endParaRPr>
          </a:p>
        </p:txBody>
      </p:sp>
      <p:pic>
        <p:nvPicPr>
          <p:cNvPr id="6" name="Picture 5">
            <a:extLst>
              <a:ext uri="{FF2B5EF4-FFF2-40B4-BE49-F238E27FC236}">
                <a16:creationId xmlns:a16="http://schemas.microsoft.com/office/drawing/2014/main" id="{86DD9B1F-3962-D9CB-13F2-65653A8D3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3472" y="2261960"/>
            <a:ext cx="5056744" cy="1167040"/>
          </a:xfrm>
          <a:prstGeom prst="rect">
            <a:avLst/>
          </a:prstGeom>
        </p:spPr>
      </p:pic>
      <p:pic>
        <p:nvPicPr>
          <p:cNvPr id="8" name="Picture 7">
            <a:extLst>
              <a:ext uri="{FF2B5EF4-FFF2-40B4-BE49-F238E27FC236}">
                <a16:creationId xmlns:a16="http://schemas.microsoft.com/office/drawing/2014/main" id="{07E4EC98-C38B-D283-1732-82A0D099B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2887" y="1879394"/>
            <a:ext cx="2392793" cy="1266142"/>
          </a:xfrm>
          <a:prstGeom prst="rect">
            <a:avLst/>
          </a:prstGeom>
        </p:spPr>
      </p:pic>
      <p:sp>
        <p:nvSpPr>
          <p:cNvPr id="9" name="Arrow: Right 8">
            <a:extLst>
              <a:ext uri="{FF2B5EF4-FFF2-40B4-BE49-F238E27FC236}">
                <a16:creationId xmlns:a16="http://schemas.microsoft.com/office/drawing/2014/main" id="{2F5A4BBE-D3F1-67C2-24E0-0400466EBE63}"/>
              </a:ext>
            </a:extLst>
          </p:cNvPr>
          <p:cNvSpPr/>
          <p:nvPr/>
        </p:nvSpPr>
        <p:spPr>
          <a:xfrm>
            <a:off x="6819610" y="2246954"/>
            <a:ext cx="1423883"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237E28F-7947-32B6-68A5-5868F322AECF}"/>
              </a:ext>
            </a:extLst>
          </p:cNvPr>
          <p:cNvSpPr/>
          <p:nvPr/>
        </p:nvSpPr>
        <p:spPr>
          <a:xfrm>
            <a:off x="3130948" y="3471167"/>
            <a:ext cx="5930104"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2DB0BCF-6151-26D9-0654-C782CBFA3FB3}"/>
              </a:ext>
            </a:extLst>
          </p:cNvPr>
          <p:cNvSpPr txBox="1"/>
          <p:nvPr/>
        </p:nvSpPr>
        <p:spPr>
          <a:xfrm>
            <a:off x="3130948" y="3559481"/>
            <a:ext cx="6426927"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Shows how many times each guest has stayed at the hotel.</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identify repeat guests and loyal customers.</a:t>
            </a:r>
          </a:p>
        </p:txBody>
      </p:sp>
      <p:cxnSp>
        <p:nvCxnSpPr>
          <p:cNvPr id="13" name="Straight Connector 12">
            <a:extLst>
              <a:ext uri="{FF2B5EF4-FFF2-40B4-BE49-F238E27FC236}">
                <a16:creationId xmlns:a16="http://schemas.microsoft.com/office/drawing/2014/main" id="{28B170CB-E5FB-1F6E-6456-B7921DA4E581}"/>
              </a:ext>
            </a:extLst>
          </p:cNvPr>
          <p:cNvCxnSpPr>
            <a:cxnSpLocks/>
          </p:cNvCxnSpPr>
          <p:nvPr/>
        </p:nvCxnSpPr>
        <p:spPr>
          <a:xfrm>
            <a:off x="1243472" y="4416552"/>
            <a:ext cx="992899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238CF3C3-8142-CC86-CC79-2EC1D62A7ED6}"/>
              </a:ext>
            </a:extLst>
          </p:cNvPr>
          <p:cNvSpPr txBox="1">
            <a:spLocks/>
          </p:cNvSpPr>
          <p:nvPr/>
        </p:nvSpPr>
        <p:spPr>
          <a:xfrm>
            <a:off x="1243472" y="4416552"/>
            <a:ext cx="2761600" cy="38540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solidFill>
                  <a:schemeClr val="accent2"/>
                </a:solidFill>
              </a:rPr>
              <a:t>20. Monthly revenue</a:t>
            </a:r>
            <a:endParaRPr lang="en-IN" sz="2400" dirty="0">
              <a:solidFill>
                <a:schemeClr val="tx1">
                  <a:lumMod val="50000"/>
                  <a:lumOff val="50000"/>
                </a:schemeClr>
              </a:solidFill>
            </a:endParaRPr>
          </a:p>
        </p:txBody>
      </p:sp>
      <p:pic>
        <p:nvPicPr>
          <p:cNvPr id="16" name="Picture 15">
            <a:extLst>
              <a:ext uri="{FF2B5EF4-FFF2-40B4-BE49-F238E27FC236}">
                <a16:creationId xmlns:a16="http://schemas.microsoft.com/office/drawing/2014/main" id="{6E90EEA6-E3EC-0631-B022-9411AE0813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3472" y="4864050"/>
            <a:ext cx="4919584" cy="701093"/>
          </a:xfrm>
          <a:prstGeom prst="rect">
            <a:avLst/>
          </a:prstGeom>
        </p:spPr>
      </p:pic>
      <p:pic>
        <p:nvPicPr>
          <p:cNvPr id="18" name="Picture 17">
            <a:extLst>
              <a:ext uri="{FF2B5EF4-FFF2-40B4-BE49-F238E27FC236}">
                <a16:creationId xmlns:a16="http://schemas.microsoft.com/office/drawing/2014/main" id="{E016589B-8BC6-8868-016D-EB7294637F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1052" y="4525691"/>
            <a:ext cx="2099158" cy="701094"/>
          </a:xfrm>
          <a:prstGeom prst="rect">
            <a:avLst/>
          </a:prstGeom>
        </p:spPr>
      </p:pic>
      <p:sp>
        <p:nvSpPr>
          <p:cNvPr id="19" name="Rectangle 18">
            <a:extLst>
              <a:ext uri="{FF2B5EF4-FFF2-40B4-BE49-F238E27FC236}">
                <a16:creationId xmlns:a16="http://schemas.microsoft.com/office/drawing/2014/main" id="{AC98EAC5-ECC5-CB2A-52DC-84C27CB8AC3B}"/>
              </a:ext>
            </a:extLst>
          </p:cNvPr>
          <p:cNvSpPr/>
          <p:nvPr/>
        </p:nvSpPr>
        <p:spPr>
          <a:xfrm>
            <a:off x="3854558" y="5335923"/>
            <a:ext cx="5930104" cy="8229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23D0D41A-41F9-FE13-7C30-ED726C697D90}"/>
              </a:ext>
            </a:extLst>
          </p:cNvPr>
          <p:cNvSpPr txBox="1"/>
          <p:nvPr/>
        </p:nvSpPr>
        <p:spPr>
          <a:xfrm>
            <a:off x="3854559" y="5390685"/>
            <a:ext cx="5930104" cy="64633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solidFill>
                  <a:schemeClr val="tx1">
                    <a:lumMod val="50000"/>
                    <a:lumOff val="50000"/>
                  </a:schemeClr>
                </a:solidFill>
              </a:rPr>
              <a:t>Shows the total revenue generated in each month.</a:t>
            </a:r>
          </a:p>
          <a:p>
            <a:pPr marL="285750" indent="-285750">
              <a:buClr>
                <a:schemeClr val="accent1"/>
              </a:buClr>
              <a:buFont typeface="Arial" panose="020B0604020202020204" pitchFamily="34" charset="0"/>
              <a:buChar char="•"/>
            </a:pPr>
            <a:r>
              <a:rPr lang="en-US" dirty="0">
                <a:solidFill>
                  <a:schemeClr val="tx1">
                    <a:lumMod val="50000"/>
                    <a:lumOff val="50000"/>
                  </a:schemeClr>
                </a:solidFill>
              </a:rPr>
              <a:t>Helps identify monthly trends and seasonal performance.</a:t>
            </a:r>
          </a:p>
        </p:txBody>
      </p:sp>
      <p:sp>
        <p:nvSpPr>
          <p:cNvPr id="21" name="Arrow: Right 20">
            <a:extLst>
              <a:ext uri="{FF2B5EF4-FFF2-40B4-BE49-F238E27FC236}">
                <a16:creationId xmlns:a16="http://schemas.microsoft.com/office/drawing/2014/main" id="{23D85890-5804-C4D1-5F51-59311FB67E48}"/>
              </a:ext>
            </a:extLst>
          </p:cNvPr>
          <p:cNvSpPr/>
          <p:nvPr/>
        </p:nvSpPr>
        <p:spPr>
          <a:xfrm>
            <a:off x="6819609" y="4594160"/>
            <a:ext cx="1423883" cy="531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74293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4AAC3-30B6-0128-7A72-C693915624F3}"/>
              </a:ext>
            </a:extLst>
          </p:cNvPr>
          <p:cNvSpPr>
            <a:spLocks noGrp="1"/>
          </p:cNvSpPr>
          <p:nvPr>
            <p:ph type="title"/>
          </p:nvPr>
        </p:nvSpPr>
        <p:spPr>
          <a:xfrm>
            <a:off x="1097280" y="1078992"/>
            <a:ext cx="4998720" cy="658368"/>
          </a:xfrm>
        </p:spPr>
        <p:txBody>
          <a:bodyPr>
            <a:normAutofit/>
          </a:bodyPr>
          <a:lstStyle/>
          <a:p>
            <a:r>
              <a:rPr lang="en-IN" sz="3000" b="1" dirty="0">
                <a:solidFill>
                  <a:schemeClr val="tx1"/>
                </a:solidFill>
                <a:latin typeface="Century" panose="02040604050505020304" pitchFamily="18" charset="0"/>
              </a:rPr>
              <a:t>CHALLENGES FACED:</a:t>
            </a:r>
          </a:p>
        </p:txBody>
      </p:sp>
      <p:sp>
        <p:nvSpPr>
          <p:cNvPr id="3" name="Content Placeholder 2">
            <a:extLst>
              <a:ext uri="{FF2B5EF4-FFF2-40B4-BE49-F238E27FC236}">
                <a16:creationId xmlns:a16="http://schemas.microsoft.com/office/drawing/2014/main" id="{D9FB6D13-809A-799A-FE29-2EE02D41DC8D}"/>
              </a:ext>
            </a:extLst>
          </p:cNvPr>
          <p:cNvSpPr>
            <a:spLocks noGrp="1"/>
          </p:cNvSpPr>
          <p:nvPr>
            <p:ph idx="1"/>
          </p:nvPr>
        </p:nvSpPr>
        <p:spPr>
          <a:xfrm>
            <a:off x="1097280" y="1955462"/>
            <a:ext cx="4736592" cy="4023360"/>
          </a:xfrm>
        </p:spPr>
        <p:txBody>
          <a:bodyPr>
            <a:normAutofit/>
          </a:bodyPr>
          <a:lstStyle/>
          <a:p>
            <a:pPr>
              <a:buFont typeface="Arial" panose="020B0604020202020204" pitchFamily="34" charset="0"/>
              <a:buChar char="•"/>
            </a:pPr>
            <a:r>
              <a:rPr lang="en-US" sz="1700" dirty="0">
                <a:solidFill>
                  <a:schemeClr val="tx1">
                    <a:lumMod val="50000"/>
                    <a:lumOff val="50000"/>
                  </a:schemeClr>
                </a:solidFill>
              </a:rPr>
              <a:t> Designing proper relationships between all tables using primary and foreign keys</a:t>
            </a:r>
          </a:p>
          <a:p>
            <a:pPr>
              <a:buFont typeface="Arial" panose="020B0604020202020204" pitchFamily="34" charset="0"/>
              <a:buChar char="•"/>
            </a:pPr>
            <a:r>
              <a:rPr lang="en-US" sz="1700" dirty="0">
                <a:solidFill>
                  <a:schemeClr val="tx1">
                    <a:lumMod val="50000"/>
                    <a:lumOff val="50000"/>
                  </a:schemeClr>
                </a:solidFill>
              </a:rPr>
              <a:t> Managing room availability and avoiding double bookings</a:t>
            </a:r>
          </a:p>
          <a:p>
            <a:pPr>
              <a:buFont typeface="Arial" panose="020B0604020202020204" pitchFamily="34" charset="0"/>
              <a:buChar char="•"/>
            </a:pPr>
            <a:r>
              <a:rPr lang="en-US" sz="1700" dirty="0">
                <a:solidFill>
                  <a:schemeClr val="tx1">
                    <a:lumMod val="50000"/>
                    <a:lumOff val="50000"/>
                  </a:schemeClr>
                </a:solidFill>
              </a:rPr>
              <a:t> Keeping guest, reservation, and payment data accurate and consistent</a:t>
            </a:r>
          </a:p>
          <a:p>
            <a:pPr>
              <a:buFont typeface="Arial" panose="020B0604020202020204" pitchFamily="34" charset="0"/>
              <a:buChar char="•"/>
            </a:pPr>
            <a:r>
              <a:rPr lang="en-US" sz="1700" dirty="0">
                <a:solidFill>
                  <a:schemeClr val="tx1">
                    <a:lumMod val="50000"/>
                    <a:lumOff val="50000"/>
                  </a:schemeClr>
                </a:solidFill>
              </a:rPr>
              <a:t>Writing JOIN and aggregate queries for reports and insights</a:t>
            </a:r>
          </a:p>
          <a:p>
            <a:pPr>
              <a:buFont typeface="Arial" panose="020B0604020202020204" pitchFamily="34" charset="0"/>
              <a:buChar char="•"/>
            </a:pPr>
            <a:r>
              <a:rPr lang="en-US" sz="1700" dirty="0">
                <a:solidFill>
                  <a:schemeClr val="tx1">
                    <a:lumMod val="50000"/>
                    <a:lumOff val="50000"/>
                  </a:schemeClr>
                </a:solidFill>
              </a:rPr>
              <a:t>Handling date-based calculations like stay duration and monthly revenue</a:t>
            </a:r>
          </a:p>
          <a:p>
            <a:pPr>
              <a:buFont typeface="Arial" panose="020B0604020202020204" pitchFamily="34" charset="0"/>
              <a:buChar char="•"/>
            </a:pPr>
            <a:endParaRPr lang="en-US" sz="1700" dirty="0">
              <a:solidFill>
                <a:schemeClr val="tx1">
                  <a:lumMod val="50000"/>
                  <a:lumOff val="50000"/>
                </a:schemeClr>
              </a:solidFill>
            </a:endParaRPr>
          </a:p>
          <a:p>
            <a:endParaRPr lang="en-IN" sz="1700" dirty="0">
              <a:solidFill>
                <a:schemeClr val="tx1">
                  <a:lumMod val="50000"/>
                  <a:lumOff val="50000"/>
                </a:schemeClr>
              </a:solidFill>
            </a:endParaRPr>
          </a:p>
        </p:txBody>
      </p:sp>
      <p:sp>
        <p:nvSpPr>
          <p:cNvPr id="4" name="Title 1">
            <a:extLst>
              <a:ext uri="{FF2B5EF4-FFF2-40B4-BE49-F238E27FC236}">
                <a16:creationId xmlns:a16="http://schemas.microsoft.com/office/drawing/2014/main" id="{2F7718EA-027A-8E26-DE64-9099668384FB}"/>
              </a:ext>
            </a:extLst>
          </p:cNvPr>
          <p:cNvSpPr txBox="1">
            <a:spLocks/>
          </p:cNvSpPr>
          <p:nvPr/>
        </p:nvSpPr>
        <p:spPr>
          <a:xfrm>
            <a:off x="6096000" y="1133179"/>
            <a:ext cx="4998720" cy="658368"/>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IN" sz="4000" b="1" dirty="0">
              <a:solidFill>
                <a:schemeClr val="tx1"/>
              </a:solidFill>
              <a:latin typeface="Century" panose="02040604050505020304" pitchFamily="18" charset="0"/>
            </a:endParaRPr>
          </a:p>
        </p:txBody>
      </p:sp>
      <p:sp>
        <p:nvSpPr>
          <p:cNvPr id="5" name="Title 1">
            <a:extLst>
              <a:ext uri="{FF2B5EF4-FFF2-40B4-BE49-F238E27FC236}">
                <a16:creationId xmlns:a16="http://schemas.microsoft.com/office/drawing/2014/main" id="{C6C6EF66-7007-6DF9-DE0C-41D341D54058}"/>
              </a:ext>
            </a:extLst>
          </p:cNvPr>
          <p:cNvSpPr txBox="1">
            <a:spLocks/>
          </p:cNvSpPr>
          <p:nvPr/>
        </p:nvSpPr>
        <p:spPr>
          <a:xfrm>
            <a:off x="6096000" y="1078992"/>
            <a:ext cx="5681472" cy="658368"/>
          </a:xfrm>
          <a:prstGeom prst="rect">
            <a:avLst/>
          </a:prstGeom>
        </p:spPr>
        <p:txBody>
          <a:bodyPr vert="horz" lIns="91440" tIns="45720" rIns="91440" bIns="45720" rtlCol="0" anchor="b">
            <a:no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3000" b="1" dirty="0">
                <a:solidFill>
                  <a:schemeClr val="tx1"/>
                </a:solidFill>
                <a:latin typeface="Century" panose="02040604050505020304" pitchFamily="18" charset="0"/>
              </a:rPr>
              <a:t>FUTURE ENHANCEMENT:</a:t>
            </a:r>
          </a:p>
        </p:txBody>
      </p:sp>
      <p:sp>
        <p:nvSpPr>
          <p:cNvPr id="13" name="Content Placeholder 2">
            <a:extLst>
              <a:ext uri="{FF2B5EF4-FFF2-40B4-BE49-F238E27FC236}">
                <a16:creationId xmlns:a16="http://schemas.microsoft.com/office/drawing/2014/main" id="{C1D3C7E8-B479-8D6A-AA26-25FA12E85CF3}"/>
              </a:ext>
            </a:extLst>
          </p:cNvPr>
          <p:cNvSpPr txBox="1">
            <a:spLocks/>
          </p:cNvSpPr>
          <p:nvPr/>
        </p:nvSpPr>
        <p:spPr>
          <a:xfrm>
            <a:off x="6096000" y="1955462"/>
            <a:ext cx="4736592"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1700" dirty="0">
                <a:solidFill>
                  <a:schemeClr val="tx1">
                    <a:lumMod val="50000"/>
                    <a:lumOff val="50000"/>
                  </a:schemeClr>
                </a:solidFill>
              </a:rPr>
              <a:t> Add user roles and login authentication for secure system access</a:t>
            </a:r>
          </a:p>
          <a:p>
            <a:pPr>
              <a:buFont typeface="Arial" panose="020B0604020202020204" pitchFamily="34" charset="0"/>
              <a:buChar char="•"/>
            </a:pPr>
            <a:r>
              <a:rPr lang="en-US" sz="1700" dirty="0">
                <a:solidFill>
                  <a:schemeClr val="tx1">
                    <a:lumMod val="50000"/>
                    <a:lumOff val="50000"/>
                  </a:schemeClr>
                </a:solidFill>
              </a:rPr>
              <a:t> Implement real-time room availability updates and booking validation</a:t>
            </a:r>
          </a:p>
          <a:p>
            <a:pPr>
              <a:buFont typeface="Arial" panose="020B0604020202020204" pitchFamily="34" charset="0"/>
              <a:buChar char="•"/>
            </a:pPr>
            <a:r>
              <a:rPr lang="en-US" sz="1700" dirty="0">
                <a:solidFill>
                  <a:schemeClr val="tx1">
                    <a:lumMod val="50000"/>
                    <a:lumOff val="50000"/>
                  </a:schemeClr>
                </a:solidFill>
              </a:rPr>
              <a:t> Include automated billing, invoices, and tax calculations</a:t>
            </a:r>
          </a:p>
          <a:p>
            <a:pPr>
              <a:buFont typeface="Arial" panose="020B0604020202020204" pitchFamily="34" charset="0"/>
              <a:buChar char="•"/>
            </a:pPr>
            <a:r>
              <a:rPr lang="en-US" sz="1700" dirty="0">
                <a:solidFill>
                  <a:schemeClr val="tx1">
                    <a:lumMod val="50000"/>
                    <a:lumOff val="50000"/>
                  </a:schemeClr>
                </a:solidFill>
              </a:rPr>
              <a:t> Add cancellation, refund, and discount management features</a:t>
            </a:r>
          </a:p>
          <a:p>
            <a:pPr>
              <a:buFont typeface="Arial" panose="020B0604020202020204" pitchFamily="34" charset="0"/>
              <a:buChar char="•"/>
            </a:pPr>
            <a:r>
              <a:rPr lang="en-US" sz="1700" dirty="0">
                <a:solidFill>
                  <a:schemeClr val="tx1">
                    <a:lumMod val="50000"/>
                    <a:lumOff val="50000"/>
                  </a:schemeClr>
                </a:solidFill>
              </a:rPr>
              <a:t> Generate advanced reports and dashboards for better decision-making</a:t>
            </a:r>
          </a:p>
          <a:p>
            <a:endParaRPr lang="en-IN" sz="1700" dirty="0">
              <a:solidFill>
                <a:schemeClr val="tx1">
                  <a:lumMod val="50000"/>
                  <a:lumOff val="50000"/>
                </a:schemeClr>
              </a:solidFill>
            </a:endParaRPr>
          </a:p>
        </p:txBody>
      </p:sp>
      <p:cxnSp>
        <p:nvCxnSpPr>
          <p:cNvPr id="17" name="Straight Connector 16">
            <a:extLst>
              <a:ext uri="{FF2B5EF4-FFF2-40B4-BE49-F238E27FC236}">
                <a16:creationId xmlns:a16="http://schemas.microsoft.com/office/drawing/2014/main" id="{7838D03F-8122-227C-96D1-CF12F19344CC}"/>
              </a:ext>
            </a:extLst>
          </p:cNvPr>
          <p:cNvCxnSpPr>
            <a:cxnSpLocks/>
          </p:cNvCxnSpPr>
          <p:nvPr/>
        </p:nvCxnSpPr>
        <p:spPr>
          <a:xfrm>
            <a:off x="5852160" y="1955462"/>
            <a:ext cx="0" cy="3210898"/>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5917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2F5FF-7C6D-B050-438C-0FA73D0170C7}"/>
              </a:ext>
            </a:extLst>
          </p:cNvPr>
          <p:cNvSpPr>
            <a:spLocks noGrp="1"/>
          </p:cNvSpPr>
          <p:nvPr>
            <p:ph type="title"/>
          </p:nvPr>
        </p:nvSpPr>
        <p:spPr/>
        <p:txBody>
          <a:bodyPr/>
          <a:lstStyle/>
          <a:p>
            <a:r>
              <a:rPr lang="en-IN" b="1" dirty="0">
                <a:solidFill>
                  <a:schemeClr val="tx1"/>
                </a:solidFill>
                <a:latin typeface="Century" panose="02040604050505020304" pitchFamily="18" charset="0"/>
              </a:rPr>
              <a:t>CONCLUSIONS:</a:t>
            </a:r>
            <a:endParaRPr lang="en-IN" dirty="0"/>
          </a:p>
        </p:txBody>
      </p:sp>
      <p:sp>
        <p:nvSpPr>
          <p:cNvPr id="4" name="Content Placeholder 2">
            <a:extLst>
              <a:ext uri="{FF2B5EF4-FFF2-40B4-BE49-F238E27FC236}">
                <a16:creationId xmlns:a16="http://schemas.microsoft.com/office/drawing/2014/main" id="{4BBCA2C8-EF74-DC77-1A23-36D2EE74F299}"/>
              </a:ext>
            </a:extLst>
          </p:cNvPr>
          <p:cNvSpPr>
            <a:spLocks noGrp="1"/>
          </p:cNvSpPr>
          <p:nvPr>
            <p:ph idx="1"/>
          </p:nvPr>
        </p:nvSpPr>
        <p:spPr>
          <a:xfrm>
            <a:off x="1096963" y="1846263"/>
            <a:ext cx="10058400" cy="4022725"/>
          </a:xfrm>
        </p:spPr>
        <p:txBody>
          <a:bodyPr/>
          <a:lstStyle/>
          <a:p>
            <a:pPr>
              <a:lnSpc>
                <a:spcPct val="150000"/>
              </a:lnSpc>
            </a:pPr>
            <a:r>
              <a:rPr lang="en-US" dirty="0">
                <a:solidFill>
                  <a:schemeClr val="tx1">
                    <a:lumMod val="50000"/>
                    <a:lumOff val="50000"/>
                  </a:schemeClr>
                </a:solidFill>
              </a:rPr>
              <a:t>The </a:t>
            </a:r>
            <a:r>
              <a:rPr lang="en-US" b="1" dirty="0"/>
              <a:t>Hotel Management System</a:t>
            </a:r>
            <a:r>
              <a:rPr lang="en-US" b="1" dirty="0">
                <a:solidFill>
                  <a:schemeClr val="tx1">
                    <a:lumMod val="50000"/>
                    <a:lumOff val="50000"/>
                  </a:schemeClr>
                </a:solidFill>
              </a:rPr>
              <a:t> </a:t>
            </a:r>
            <a:r>
              <a:rPr lang="en-US" dirty="0">
                <a:solidFill>
                  <a:schemeClr val="tx1">
                    <a:lumMod val="50000"/>
                    <a:lumOff val="50000"/>
                  </a:schemeClr>
                </a:solidFill>
              </a:rPr>
              <a:t>project successfully demonstrates the use of SQL to design a structured database and manage hotel operations efficiently. By organizing data into related tables and using queries, the system provides meaningful insights on guests, rooms, reservations, revenue, and staff. This project highlights practical database skills such as table creation, relationships, joins, and aggregate functions, making it a strong foundation for real-world hotel management applications.</a:t>
            </a:r>
            <a:endParaRPr lang="en-IN" dirty="0">
              <a:solidFill>
                <a:schemeClr val="tx1">
                  <a:lumMod val="50000"/>
                  <a:lumOff val="50000"/>
                </a:schemeClr>
              </a:solidFill>
            </a:endParaRPr>
          </a:p>
        </p:txBody>
      </p:sp>
      <p:cxnSp>
        <p:nvCxnSpPr>
          <p:cNvPr id="7" name="Straight Connector 6">
            <a:extLst>
              <a:ext uri="{FF2B5EF4-FFF2-40B4-BE49-F238E27FC236}">
                <a16:creationId xmlns:a16="http://schemas.microsoft.com/office/drawing/2014/main" id="{24E7089E-73CD-B135-DE29-A200956A0342}"/>
              </a:ext>
            </a:extLst>
          </p:cNvPr>
          <p:cNvCxnSpPr>
            <a:cxnSpLocks/>
          </p:cNvCxnSpPr>
          <p:nvPr/>
        </p:nvCxnSpPr>
        <p:spPr>
          <a:xfrm>
            <a:off x="1197864" y="1737360"/>
            <a:ext cx="9960587"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122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65370-734E-9D2E-290A-E89CB322C96F}"/>
              </a:ext>
            </a:extLst>
          </p:cNvPr>
          <p:cNvSpPr>
            <a:spLocks noGrp="1"/>
          </p:cNvSpPr>
          <p:nvPr>
            <p:ph type="title"/>
          </p:nvPr>
        </p:nvSpPr>
        <p:spPr>
          <a:xfrm>
            <a:off x="1148957" y="2115403"/>
            <a:ext cx="10058400" cy="1450757"/>
          </a:xfrm>
        </p:spPr>
        <p:txBody>
          <a:bodyPr>
            <a:normAutofit/>
          </a:bodyPr>
          <a:lstStyle/>
          <a:p>
            <a:pPr algn="ctr"/>
            <a:r>
              <a:rPr lang="en-US" sz="5400" b="1" dirty="0">
                <a:solidFill>
                  <a:schemeClr val="tx1"/>
                </a:solidFill>
                <a:latin typeface="Century" panose="02040604050505020304" pitchFamily="18" charset="0"/>
              </a:rPr>
              <a:t>THANK YOU !!</a:t>
            </a:r>
            <a:endParaRPr lang="en-IN" sz="5400" b="1" dirty="0">
              <a:solidFill>
                <a:schemeClr val="tx1"/>
              </a:solidFill>
              <a:latin typeface="Century" panose="02040604050505020304" pitchFamily="18" charset="0"/>
            </a:endParaRPr>
          </a:p>
        </p:txBody>
      </p:sp>
      <p:cxnSp>
        <p:nvCxnSpPr>
          <p:cNvPr id="4" name="Straight Connector 3">
            <a:extLst>
              <a:ext uri="{FF2B5EF4-FFF2-40B4-BE49-F238E27FC236}">
                <a16:creationId xmlns:a16="http://schemas.microsoft.com/office/drawing/2014/main" id="{A7FFDBE5-EEAB-9876-274D-00A4F426F32E}"/>
              </a:ext>
            </a:extLst>
          </p:cNvPr>
          <p:cNvCxnSpPr>
            <a:cxnSpLocks/>
          </p:cNvCxnSpPr>
          <p:nvPr/>
        </p:nvCxnSpPr>
        <p:spPr>
          <a:xfrm>
            <a:off x="1197864" y="1737360"/>
            <a:ext cx="996058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574EE4A-5AEE-C27F-5507-CC2F8B7DBEDD}"/>
              </a:ext>
            </a:extLst>
          </p:cNvPr>
          <p:cNvCxnSpPr>
            <a:cxnSpLocks/>
          </p:cNvCxnSpPr>
          <p:nvPr/>
        </p:nvCxnSpPr>
        <p:spPr>
          <a:xfrm>
            <a:off x="1197864" y="4352544"/>
            <a:ext cx="9960587"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42068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315</TotalTime>
  <Words>945</Words>
  <Application>Microsoft Office PowerPoint</Application>
  <PresentationFormat>Widescreen</PresentationFormat>
  <Paragraphs>117</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Century</vt:lpstr>
      <vt:lpstr>Retrospect</vt:lpstr>
      <vt:lpstr>INTEGRATED HOTEL MANAGEMENT SYSTEM</vt:lpstr>
      <vt:lpstr>INTRODUCTION</vt:lpstr>
      <vt:lpstr>DATASET</vt:lpstr>
      <vt:lpstr>PROBLEM STATEMENT</vt:lpstr>
      <vt:lpstr>DATA EXTRACTION QUERIES</vt:lpstr>
      <vt:lpstr>DATA EXTRACTION QUERIES</vt:lpstr>
      <vt:lpstr>DATA EXTRACTION QUERIES</vt:lpstr>
      <vt:lpstr>DATA EXTRACTION QUERIES</vt:lpstr>
      <vt:lpstr>DATA EXTRACTION QUERIES</vt:lpstr>
      <vt:lpstr>DATA EXTRACTION QUERIES</vt:lpstr>
      <vt:lpstr>DATA EXTRACTION QUERIES</vt:lpstr>
      <vt:lpstr>DATA EXTRACTION QUERIES</vt:lpstr>
      <vt:lpstr>DATA EXTRACTION QUERIES</vt:lpstr>
      <vt:lpstr>DATA EXTRACTION QUERIES</vt:lpstr>
      <vt:lpstr>CHALLENGES FACED:</vt:lpstr>
      <vt:lpstr>CONCLUSIONS: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Soumya Pratim Das</dc:creator>
  <cp:lastModifiedBy>Soumya Pratim Das</cp:lastModifiedBy>
  <cp:revision>2</cp:revision>
  <dcterms:created xsi:type="dcterms:W3CDTF">2026-01-12T12:31:48Z</dcterms:created>
  <dcterms:modified xsi:type="dcterms:W3CDTF">2026-01-12T19:37:40Z</dcterms:modified>
</cp:coreProperties>
</file>